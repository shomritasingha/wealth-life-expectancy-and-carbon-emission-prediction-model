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Wealth, longevity &amp; carbon</a:t>
            </a:r>
          </a:p>
          <a:p/>
          <a:p>
            <a:r>
              <a:t>Imagine two economies with similar incomes, but very different life expectancies. Now imagine that the economy where people live longer also emits less carbon per person. What would that tell us about development? This project investigates the relationship between wealth, longevity, and carbon emissions using only the supplied worlddata dataset. We will first examine differences across economies in a common historical year. Then we will follow the same economies over time. Finally, we will ask whether a predictive model can explain longevity more accurately than income alone. The central message is that wealth and health are strongly associated, but income does not capture the whole picture. Throughout the presentation, prediction and correlation are treated as evidence about patterns, rather than proof of causes.</a:t>
            </a:r>
          </a:p>
          <a:p/>
          <a:p>
            <a:r>
              <a:t>Before interpreting a chart, we need a defensible sample. The file contains about five point six six million rows and thirteen hundred forty four indicators, recorded in long format. Following the course merging example, I selected exact names from IndicatorName and pivoted them into one row per economy and year. I checked for duplicate keys before pivoting. Thirty three regional and income aggregates were removed, because including the world or an income group alongside its member economies would double count information. I chose twenty eleven using a coverage rule fixed before examining relationships. Carbon observations stop after that year. The main comparison includes one hundred eighty two economies, while the model requires one hundred seventy one complete cases. Missing values were never filled with zeros.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Higher income, longer lives</a:t>
            </a:r>
          </a:p>
          <a:p/>
          <a:p>
            <a:r>
              <a:t>This chart places income per person on the horizontal axis and life expectancy on the vertical axis. The income axis is logarithmic, so moving the same distance means the same proportional increase in income. Each dot has equal size, preventing large populations from dominating the picture. Color represents carbon emissions per person. The rank correlation between income and longevity is zero point eight four two, indicating a strong positive association. However, the vertical spread is substantial. Economies at similar income levels can have quite different life expectancy. The fitted logarithmic curve is a descriptive summary rather than a causal law. It suggests that proportional income comparisons are more informative here than a straight line through raw dollar values.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Longer lives, higher emissions</a:t>
            </a:r>
          </a:p>
          <a:p/>
          <a:p>
            <a:r>
              <a:t>To make the pattern easier to compare, I divided the same one hundred eighty two economies into five equally sized income groups. These are sample quintiles, rather than official income classifications. Median life expectancy rises from fifty nine point two years in the lowest group to eighty one years in the highest. Median carbon emissions rise from zero point one six to eight point nine two tons per person. Using the unrounded values, that is approximately fifty four times as much carbon. These are separate group medians, so they do not describe a single representative economy. The comparison shows why development should be evaluated using more than one outcome. Longer lives are valuable, but emissions tell a different part of the story.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Longevity improved; emissions often rose</a:t>
            </a:r>
          </a:p>
          <a:p/>
          <a:p>
            <a:r>
              <a:t>A cross section cannot show whether individual economies improved. For that, I matched exact observations from nineteen ninety and twenty eleven using economy codes. In the left chart, points above the diagonal indicate longer life expectancy. Across one hundred ninety five matched economies, the average gain was five point five eight years, and ninety five point four percent improved. Resampling economies gives an interval from about five to six point two years for the mean gain. The right chart repeats the exercise for emissions, using a different matched sample of one hundred sixty six economies. Carbon emissions per person rose in seventy point five percent of those cases. Because the samples differ, those two percentages should not be combined as if they described the same economies.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More than income improves prediction</a:t>
            </a:r>
          </a:p>
          <a:p/>
          <a:p>
            <a:r>
              <a:t>Next, I tested whether additional development indicators improve prediction. The outcome is life expectancy in twenty eleven. Predictors include income, carbon emissions, access to sanitation, access to drinking water, health expenditure as a share of GDP, and urbanization. I excluded infant mortality because it is closely connected to the construction of life expectancy and could make the task too mechanical. All models use the same complete sample. One hundred twenty eight economies form the training set, and forty three are held out. Five fold cross validation inside training selects model settings using average absolute error. The test set is evaluated only after that selection. This design asks whether a model works on unseen economies, instead of rewarding a more complicated fit to familiar observations.</a:t>
            </a:r>
          </a:p>
          <a:p/>
          <a:p>
            <a:r>
              <a:t>The random forest had the lowest cross validation error in training and was selected before examining the test results. On the forty three held out economies, its average absolute error was three point two nine years. The log income model missed by four point six two years on average. That is an improvement of one point three three years, or about twenty nine percent. Paired resampling of the same test economies gives an improvement interval from roughly half a year to two point two years. The ridge model performs almost as well as the forest, while raw income regression performs poorly. This supports using transformed income and additional development indicators. However, one small test split cannot establish that the forest will always be the best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Sanitation is the strongest model signal</a:t>
            </a:r>
          </a:p>
          <a:p/>
          <a:p>
            <a:r>
              <a:t>Which inputs actually help the forest predict? I shuffled one predictor at a time in the held out test sample and measured the increase in prediction error. Shuffling sanitation access increased average absolute error by about one point seven six years, the largest change among these variables. Water access and income also contributed useful information. Carbon and urbanization had smaller incremental contributions in this model. The error bars show variation across repeated shuffles; they are not confidence intervals for causal effects. If two variables contain overlapping information, either can appear less important because the other remains available. Sanitation is therefore the strongest predictive signal in this fitted model, but this result does not quantify how much life expectancy would change after a sanitation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One prediction, explained</a:t>
            </a:r>
          </a:p>
          <a:p/>
          <a:p>
            <a:r>
              <a:t>A global ranking does not explain an individual prediction. For a transparent local example, I used the ridge regression and chose the alphabetically first economy in the test set, Afghanistan. This selection avoids choosing a case simply because the model looks impressive. The ridge prediction is fifty eight point five years, compared with an observed value of fifty nine point three. Its starting value is the training mean, about sixty nine point six years. Standardized feature contributions add to that baseline exactly. Lower sanitation access, water access, and income account for the largest downward contributions. These bars explain the arithmetic of the ridge prediction. They are relative to training averages, and they do not estimate what a particular policy would achieve.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Some economies broke the pattern</a:t>
            </a:r>
          </a:p>
          <a:p/>
          <a:p>
            <a:r>
              <a:t>The remaining differences are informative. I generated out of fold predictions using only log income, so each economy was predicted by a model that had not trained on it. Vietnam's life expectancy was about eight point nine years above that prediction, while Equatorial Guinea was about twenty one point seven years below it. Those gaps are descriptive exceptions, not rankings of policy quality. I also matched all three outcomes at both historical endpoints. Among 140 economies with complete joint observations, 29 increased income and longevity while reducing carbon emissions per person. This establishes that the combination occurred in this dataset. It does not explain the mechanism, imply a continuous trend, or show that total or consumption based emissions also fell.</a:t>
            </a:r>
          </a:p>
          <a:p/>
          <a:p>
            <a:r>
              <a:t>The chart shows out-of-fold income-model residuals; the 29-of-140 statistic is a separate matched endpoint analysis. It refers to emissions per person, not total emissions.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Measure progress beyond income</a:t>
            </a:r>
          </a:p>
          <a:p/>
          <a:p>
            <a:r>
              <a:t>Several checks help bound these conclusions. Removing the richest five percent barely changes the income and longevity rank correlation, from zero point eight four two to zero point eight three zero. The broad association is therefore not driven only by the wealthiest economies. Still, complete cases differ from excluded observations, so the model sample is not automatically representative. Average longevity across economies is about seventy point three years, versus seventy point eight when weighted by population, answering a different question. Important omitted factors include education, institutions, conflict, and disease. Health spending share is not spending per person. Finally, the carbon measure does not represent the entire environmental footprint. All results describe historical observations, and none should be interpreted as current country conditions.</a:t>
            </a:r>
          </a:p>
          <a:p/>
          <a:p>
            <a:r>
              <a:t>The main takeaways are that income and longevity are strongly associated, additional development indicators improve held-out prediction, and health and carbon deserve separate attention. Some economies increased income and longevity while reducing carbon emissions per person. These historical patterns do not identify policy mechanisms. All data come from worlddata.csv. AI assisted with analysis code, slide preparation and the original narration.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4630400" cy="10972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93192"/>
            <a:ext cx="2816209" cy="263347"/>
          </a:xfrm>
          <a:prstGeom prst="rect">
            <a:avLst/>
          </a:prstGeom>
          <a:noFill/>
        </p:spPr>
        <p:txBody>
          <a:bodyPr wrap="none" lIns="0" rIns="0" tIns="0" bIns="0">
            <a:spAutoFit/>
          </a:bodyPr>
          <a:lstStyle/>
          <a:p>
            <a:pPr>
              <a:defRPr sz="1296" b="1">
                <a:solidFill>
                  <a:srgbClr val="008C95"/>
                </a:solidFill>
                <a:latin typeface="Arial"/>
              </a:defRPr>
            </a:pPr>
            <a:r>
              <a:t>WEALTH · LONGEVITY · CARBON</a:t>
            </a:r>
          </a:p>
        </p:txBody>
      </p:sp>
      <p:sp>
        <p:nvSpPr>
          <p:cNvPr id="4" name="TextBox 3"/>
          <p:cNvSpPr txBox="1"/>
          <p:nvPr/>
        </p:nvSpPr>
        <p:spPr>
          <a:xfrm>
            <a:off x="603504" y="822960"/>
            <a:ext cx="5184505" cy="636422"/>
          </a:xfrm>
          <a:prstGeom prst="rect">
            <a:avLst/>
          </a:prstGeom>
          <a:noFill/>
        </p:spPr>
        <p:txBody>
          <a:bodyPr wrap="none" lIns="0" rIns="0" tIns="0" bIns="0">
            <a:spAutoFit/>
          </a:bodyPr>
          <a:lstStyle/>
          <a:p>
            <a:pPr>
              <a:defRPr sz="3095" b="1">
                <a:solidFill>
                  <a:srgbClr val="142B49"/>
                </a:solidFill>
                <a:latin typeface="Arial"/>
              </a:defRPr>
            </a:pPr>
            <a:r>
              <a:t>Wealth, longevity &amp; carbon</a:t>
            </a:r>
          </a:p>
        </p:txBody>
      </p:sp>
      <p:sp>
        <p:nvSpPr>
          <p:cNvPr id="5" name="Rectangle 4"/>
          <p:cNvSpPr/>
          <p:nvPr/>
        </p:nvSpPr>
        <p:spPr>
          <a:xfrm>
            <a:off x="603504" y="7616952"/>
            <a:ext cx="13423392" cy="18288"/>
          </a:xfrm>
          <a:prstGeom prst="rect">
            <a:avLst/>
          </a:prstGeom>
          <a:solidFill>
            <a:srgbClr val="D5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7772400"/>
            <a:ext cx="4590145" cy="230428"/>
          </a:xfrm>
          <a:prstGeom prst="rect">
            <a:avLst/>
          </a:prstGeom>
          <a:noFill/>
        </p:spPr>
        <p:txBody>
          <a:bodyPr wrap="none" lIns="0" rIns="0" tIns="0" bIns="0">
            <a:spAutoFit/>
          </a:bodyPr>
          <a:lstStyle/>
          <a:p>
            <a:pPr>
              <a:defRPr sz="1152" b="0">
                <a:solidFill>
                  <a:srgbClr val="56687B"/>
                </a:solidFill>
                <a:latin typeface="Arial"/>
              </a:defRPr>
            </a:pPr>
            <a:r>
              <a:t>Source: worlddata.csv | Historical data | AI-assisted analysis &amp; slides</a:t>
            </a:r>
          </a:p>
        </p:txBody>
      </p:sp>
      <p:sp>
        <p:nvSpPr>
          <p:cNvPr id="7" name="TextBox 6"/>
          <p:cNvSpPr txBox="1"/>
          <p:nvPr/>
        </p:nvSpPr>
        <p:spPr>
          <a:xfrm>
            <a:off x="13167360" y="7772400"/>
            <a:ext cx="612648" cy="241401"/>
          </a:xfrm>
          <a:prstGeom prst="rect">
            <a:avLst/>
          </a:prstGeom>
          <a:noFill/>
        </p:spPr>
        <p:txBody>
          <a:bodyPr wrap="none" lIns="0" rIns="0" tIns="0" bIns="0">
            <a:spAutoFit/>
          </a:bodyPr>
          <a:lstStyle/>
          <a:p>
            <a:pPr>
              <a:defRPr sz="1224" b="0">
                <a:solidFill>
                  <a:srgbClr val="56687B"/>
                </a:solidFill>
                <a:latin typeface="Arial"/>
              </a:defRPr>
            </a:pPr>
            <a:r>
              <a:t>01 / 09</a:t>
            </a:r>
          </a:p>
        </p:txBody>
      </p:sp>
      <p:sp>
        <p:nvSpPr>
          <p:cNvPr id="8" name="TextBox 7"/>
          <p:cNvSpPr txBox="1"/>
          <p:nvPr/>
        </p:nvSpPr>
        <p:spPr>
          <a:xfrm>
            <a:off x="658368" y="1993392"/>
            <a:ext cx="5696712" cy="702259"/>
          </a:xfrm>
          <a:prstGeom prst="rect">
            <a:avLst/>
          </a:prstGeom>
          <a:noFill/>
        </p:spPr>
        <p:txBody>
          <a:bodyPr wrap="none" lIns="0" rIns="0" tIns="0" bIns="0">
            <a:spAutoFit/>
          </a:bodyPr>
          <a:lstStyle/>
          <a:p>
            <a:pPr>
              <a:defRPr sz="3456" b="1">
                <a:solidFill>
                  <a:srgbClr val="142B49"/>
                </a:solidFill>
                <a:latin typeface="Arial"/>
              </a:defRPr>
            </a:pPr>
            <a:r>
              <a:t>Can economies live longer</a:t>
            </a:r>
          </a:p>
        </p:txBody>
      </p:sp>
      <p:sp>
        <p:nvSpPr>
          <p:cNvPr id="9" name="TextBox 8"/>
          <p:cNvSpPr txBox="1"/>
          <p:nvPr/>
        </p:nvSpPr>
        <p:spPr>
          <a:xfrm>
            <a:off x="658368" y="2578608"/>
            <a:ext cx="4974336" cy="702259"/>
          </a:xfrm>
          <a:prstGeom prst="rect">
            <a:avLst/>
          </a:prstGeom>
          <a:noFill/>
        </p:spPr>
        <p:txBody>
          <a:bodyPr wrap="none" lIns="0" rIns="0" tIns="0" bIns="0">
            <a:spAutoFit/>
          </a:bodyPr>
          <a:lstStyle/>
          <a:p>
            <a:pPr>
              <a:defRPr sz="3456" b="1">
                <a:solidFill>
                  <a:srgbClr val="142B49"/>
                </a:solidFill>
                <a:latin typeface="Arial"/>
              </a:defRPr>
            </a:pPr>
            <a:r>
              <a:t>without emitting more?</a:t>
            </a:r>
          </a:p>
        </p:txBody>
      </p:sp>
      <p:sp>
        <p:nvSpPr>
          <p:cNvPr id="10" name="TextBox 9"/>
          <p:cNvSpPr txBox="1"/>
          <p:nvPr/>
        </p:nvSpPr>
        <p:spPr>
          <a:xfrm>
            <a:off x="658368" y="3593592"/>
            <a:ext cx="6683978" cy="427939"/>
          </a:xfrm>
          <a:prstGeom prst="rect">
            <a:avLst/>
          </a:prstGeom>
          <a:noFill/>
        </p:spPr>
        <p:txBody>
          <a:bodyPr wrap="none" lIns="0" rIns="0" tIns="0" bIns="0">
            <a:spAutoFit/>
          </a:bodyPr>
          <a:lstStyle/>
          <a:p>
            <a:pPr>
              <a:defRPr sz="2088" b="0">
                <a:solidFill>
                  <a:srgbClr val="56687B"/>
                </a:solidFill>
                <a:latin typeface="Arial"/>
              </a:defRPr>
            </a:pPr>
            <a:r>
              <a:t>A historical comparison using worlddata.csv · BUDT704</a:t>
            </a:r>
          </a:p>
        </p:txBody>
      </p:sp>
      <p:sp>
        <p:nvSpPr>
          <p:cNvPr id="11" name="Rectangle 10"/>
          <p:cNvSpPr/>
          <p:nvPr/>
        </p:nvSpPr>
        <p:spPr>
          <a:xfrm>
            <a:off x="658368" y="5852160"/>
            <a:ext cx="4206240" cy="1280160"/>
          </a:xfrm>
          <a:prstGeom prst="rect">
            <a:avLst/>
          </a:prstGeom>
          <a:solidFill>
            <a:srgbClr val="14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5998464"/>
            <a:ext cx="767810" cy="449884"/>
          </a:xfrm>
          <a:prstGeom prst="rect">
            <a:avLst/>
          </a:prstGeom>
          <a:noFill/>
        </p:spPr>
        <p:txBody>
          <a:bodyPr wrap="none" lIns="0" rIns="0" tIns="0" bIns="0">
            <a:spAutoFit/>
          </a:bodyPr>
          <a:lstStyle/>
          <a:p>
            <a:pPr>
              <a:defRPr sz="2232" b="1">
                <a:solidFill>
                  <a:srgbClr val="FFFFFF"/>
                </a:solidFill>
                <a:latin typeface="Arial"/>
              </a:defRPr>
            </a:pPr>
            <a:r>
              <a:t>2011</a:t>
            </a:r>
          </a:p>
        </p:txBody>
      </p:sp>
      <p:sp>
        <p:nvSpPr>
          <p:cNvPr id="13" name="TextBox 12"/>
          <p:cNvSpPr txBox="1"/>
          <p:nvPr/>
        </p:nvSpPr>
        <p:spPr>
          <a:xfrm>
            <a:off x="859536" y="6473952"/>
            <a:ext cx="2468880" cy="318211"/>
          </a:xfrm>
          <a:prstGeom prst="rect">
            <a:avLst/>
          </a:prstGeom>
          <a:noFill/>
        </p:spPr>
        <p:txBody>
          <a:bodyPr wrap="none" lIns="0" rIns="0" tIns="0" bIns="0">
            <a:spAutoFit/>
          </a:bodyPr>
          <a:lstStyle/>
          <a:p>
            <a:pPr>
              <a:defRPr sz="1584" b="0">
                <a:solidFill>
                  <a:srgbClr val="DCE8EF"/>
                </a:solidFill>
                <a:latin typeface="Arial"/>
              </a:defRPr>
            </a:pPr>
            <a:r>
              <a:t>Common comparison year</a:t>
            </a:r>
          </a:p>
        </p:txBody>
      </p:sp>
      <p:sp>
        <p:nvSpPr>
          <p:cNvPr id="14" name="Rectangle 13"/>
          <p:cNvSpPr/>
          <p:nvPr/>
        </p:nvSpPr>
        <p:spPr>
          <a:xfrm>
            <a:off x="5138928" y="5852160"/>
            <a:ext cx="4206240" cy="1280160"/>
          </a:xfrm>
          <a:prstGeom prst="rect">
            <a:avLst/>
          </a:prstGeom>
          <a:solidFill>
            <a:srgbClr val="14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40096" y="5998464"/>
            <a:ext cx="2176272" cy="449884"/>
          </a:xfrm>
          <a:prstGeom prst="rect">
            <a:avLst/>
          </a:prstGeom>
          <a:noFill/>
        </p:spPr>
        <p:txBody>
          <a:bodyPr wrap="none" lIns="0" rIns="0" tIns="0" bIns="0">
            <a:spAutoFit/>
          </a:bodyPr>
          <a:lstStyle/>
          <a:p>
            <a:pPr>
              <a:defRPr sz="2232" b="1">
                <a:solidFill>
                  <a:srgbClr val="FFFFFF"/>
                </a:solidFill>
                <a:latin typeface="Arial"/>
              </a:defRPr>
            </a:pPr>
            <a:r>
              <a:t>182 economies</a:t>
            </a:r>
          </a:p>
        </p:txBody>
      </p:sp>
      <p:sp>
        <p:nvSpPr>
          <p:cNvPr id="16" name="TextBox 15"/>
          <p:cNvSpPr txBox="1"/>
          <p:nvPr/>
        </p:nvSpPr>
        <p:spPr>
          <a:xfrm>
            <a:off x="5340096" y="6473952"/>
            <a:ext cx="2276856" cy="318211"/>
          </a:xfrm>
          <a:prstGeom prst="rect">
            <a:avLst/>
          </a:prstGeom>
          <a:noFill/>
        </p:spPr>
        <p:txBody>
          <a:bodyPr wrap="none" lIns="0" rIns="0" tIns="0" bIns="0">
            <a:spAutoFit/>
          </a:bodyPr>
          <a:lstStyle/>
          <a:p>
            <a:pPr>
              <a:defRPr sz="1584" b="0">
                <a:solidFill>
                  <a:srgbClr val="DCE8EF"/>
                </a:solidFill>
                <a:latin typeface="Arial"/>
              </a:defRPr>
            </a:pPr>
            <a:r>
              <a:t>Main descriptive sample</a:t>
            </a:r>
          </a:p>
        </p:txBody>
      </p:sp>
      <p:sp>
        <p:nvSpPr>
          <p:cNvPr id="17" name="Rectangle 16"/>
          <p:cNvSpPr/>
          <p:nvPr/>
        </p:nvSpPr>
        <p:spPr>
          <a:xfrm>
            <a:off x="9619488" y="5852160"/>
            <a:ext cx="4206240" cy="1280160"/>
          </a:xfrm>
          <a:prstGeom prst="rect">
            <a:avLst/>
          </a:prstGeom>
          <a:solidFill>
            <a:srgbClr val="14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20656" y="5998464"/>
            <a:ext cx="2176272" cy="449884"/>
          </a:xfrm>
          <a:prstGeom prst="rect">
            <a:avLst/>
          </a:prstGeom>
          <a:noFill/>
        </p:spPr>
        <p:txBody>
          <a:bodyPr wrap="none" lIns="0" rIns="0" tIns="0" bIns="0">
            <a:spAutoFit/>
          </a:bodyPr>
          <a:lstStyle/>
          <a:p>
            <a:pPr>
              <a:defRPr sz="2232" b="1">
                <a:solidFill>
                  <a:srgbClr val="FFFFFF"/>
                </a:solidFill>
                <a:latin typeface="Arial"/>
              </a:defRPr>
            </a:pPr>
            <a:r>
              <a:t>171 economies</a:t>
            </a:r>
          </a:p>
        </p:txBody>
      </p:sp>
      <p:sp>
        <p:nvSpPr>
          <p:cNvPr id="19" name="TextBox 18"/>
          <p:cNvSpPr txBox="1"/>
          <p:nvPr/>
        </p:nvSpPr>
        <p:spPr>
          <a:xfrm>
            <a:off x="9820656" y="6473952"/>
            <a:ext cx="2286000" cy="318211"/>
          </a:xfrm>
          <a:prstGeom prst="rect">
            <a:avLst/>
          </a:prstGeom>
          <a:noFill/>
        </p:spPr>
        <p:txBody>
          <a:bodyPr wrap="none" lIns="0" rIns="0" tIns="0" bIns="0">
            <a:spAutoFit/>
          </a:bodyPr>
          <a:lstStyle/>
          <a:p>
            <a:pPr>
              <a:defRPr sz="1584" b="0">
                <a:solidFill>
                  <a:srgbClr val="DCE8EF"/>
                </a:solidFill>
                <a:latin typeface="Arial"/>
              </a:defRPr>
            </a:pPr>
            <a:r>
              <a:t>Complete model sample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4630400" cy="10972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93192"/>
            <a:ext cx="2816209" cy="263347"/>
          </a:xfrm>
          <a:prstGeom prst="rect">
            <a:avLst/>
          </a:prstGeom>
          <a:noFill/>
        </p:spPr>
        <p:txBody>
          <a:bodyPr wrap="none" lIns="0" rIns="0" tIns="0" bIns="0">
            <a:spAutoFit/>
          </a:bodyPr>
          <a:lstStyle/>
          <a:p>
            <a:pPr>
              <a:defRPr sz="1296" b="1">
                <a:solidFill>
                  <a:srgbClr val="008C95"/>
                </a:solidFill>
                <a:latin typeface="Arial"/>
              </a:defRPr>
            </a:pPr>
            <a:r>
              <a:t>WEALTH · LONGEVITY · CARBON</a:t>
            </a:r>
          </a:p>
        </p:txBody>
      </p:sp>
      <p:sp>
        <p:nvSpPr>
          <p:cNvPr id="4" name="TextBox 3"/>
          <p:cNvSpPr txBox="1"/>
          <p:nvPr/>
        </p:nvSpPr>
        <p:spPr>
          <a:xfrm>
            <a:off x="603504" y="822960"/>
            <a:ext cx="5276088" cy="636422"/>
          </a:xfrm>
          <a:prstGeom prst="rect">
            <a:avLst/>
          </a:prstGeom>
          <a:noFill/>
        </p:spPr>
        <p:txBody>
          <a:bodyPr wrap="none" lIns="0" rIns="0" tIns="0" bIns="0">
            <a:spAutoFit/>
          </a:bodyPr>
          <a:lstStyle/>
          <a:p>
            <a:pPr>
              <a:defRPr sz="3095" b="1">
                <a:solidFill>
                  <a:srgbClr val="142B49"/>
                </a:solidFill>
                <a:latin typeface="Arial"/>
              </a:defRPr>
            </a:pPr>
            <a:r>
              <a:t>Higher income, longer lives</a:t>
            </a:r>
          </a:p>
        </p:txBody>
      </p:sp>
      <p:sp>
        <p:nvSpPr>
          <p:cNvPr id="5" name="Rectangle 4"/>
          <p:cNvSpPr/>
          <p:nvPr/>
        </p:nvSpPr>
        <p:spPr>
          <a:xfrm>
            <a:off x="603504" y="7616952"/>
            <a:ext cx="13423392" cy="18288"/>
          </a:xfrm>
          <a:prstGeom prst="rect">
            <a:avLst/>
          </a:prstGeom>
          <a:solidFill>
            <a:srgbClr val="D5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7772400"/>
            <a:ext cx="4590145" cy="230428"/>
          </a:xfrm>
          <a:prstGeom prst="rect">
            <a:avLst/>
          </a:prstGeom>
          <a:noFill/>
        </p:spPr>
        <p:txBody>
          <a:bodyPr wrap="none" lIns="0" rIns="0" tIns="0" bIns="0">
            <a:spAutoFit/>
          </a:bodyPr>
          <a:lstStyle/>
          <a:p>
            <a:pPr>
              <a:defRPr sz="1152" b="0">
                <a:solidFill>
                  <a:srgbClr val="56687B"/>
                </a:solidFill>
                <a:latin typeface="Arial"/>
              </a:defRPr>
            </a:pPr>
            <a:r>
              <a:t>Source: worlddata.csv | Historical data | AI-assisted analysis &amp; slides</a:t>
            </a:r>
          </a:p>
        </p:txBody>
      </p:sp>
      <p:sp>
        <p:nvSpPr>
          <p:cNvPr id="7" name="TextBox 6"/>
          <p:cNvSpPr txBox="1"/>
          <p:nvPr/>
        </p:nvSpPr>
        <p:spPr>
          <a:xfrm>
            <a:off x="13167360" y="7772400"/>
            <a:ext cx="612648" cy="241401"/>
          </a:xfrm>
          <a:prstGeom prst="rect">
            <a:avLst/>
          </a:prstGeom>
          <a:noFill/>
        </p:spPr>
        <p:txBody>
          <a:bodyPr wrap="none" lIns="0" rIns="0" tIns="0" bIns="0">
            <a:spAutoFit/>
          </a:bodyPr>
          <a:lstStyle/>
          <a:p>
            <a:pPr>
              <a:defRPr sz="1224" b="0">
                <a:solidFill>
                  <a:srgbClr val="56687B"/>
                </a:solidFill>
                <a:latin typeface="Arial"/>
              </a:defRPr>
            </a:pPr>
            <a:r>
              <a:t>02 / 09</a:t>
            </a:r>
          </a:p>
        </p:txBody>
      </p:sp>
      <p:sp>
        <p:nvSpPr>
          <p:cNvPr id="8" name="Rectangle 7"/>
          <p:cNvSpPr/>
          <p:nvPr/>
        </p:nvSpPr>
        <p:spPr>
          <a:xfrm>
            <a:off x="603504" y="1691640"/>
            <a:ext cx="3840480" cy="5486400"/>
          </a:xfrm>
          <a:prstGeom prst="rect">
            <a:avLst/>
          </a:prstGeom>
          <a:solidFill>
            <a:srgbClr val="14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039112"/>
            <a:ext cx="1051560" cy="570585"/>
          </a:xfrm>
          <a:prstGeom prst="rect">
            <a:avLst/>
          </a:prstGeom>
          <a:noFill/>
        </p:spPr>
        <p:txBody>
          <a:bodyPr wrap="none" lIns="0" rIns="0" tIns="0" bIns="0">
            <a:spAutoFit/>
          </a:bodyPr>
          <a:lstStyle/>
          <a:p>
            <a:pPr>
              <a:defRPr sz="2808" b="1">
                <a:solidFill>
                  <a:srgbClr val="FFFFFF"/>
                </a:solidFill>
                <a:latin typeface="Arial"/>
              </a:defRPr>
            </a:pPr>
            <a:r>
              <a:t>0.842</a:t>
            </a:r>
          </a:p>
        </p:txBody>
      </p:sp>
      <p:sp>
        <p:nvSpPr>
          <p:cNvPr id="10" name="TextBox 9"/>
          <p:cNvSpPr txBox="1"/>
          <p:nvPr/>
        </p:nvSpPr>
        <p:spPr>
          <a:xfrm>
            <a:off x="841248" y="2834640"/>
            <a:ext cx="2468880" cy="362102"/>
          </a:xfrm>
          <a:prstGeom prst="rect">
            <a:avLst/>
          </a:prstGeom>
          <a:noFill/>
        </p:spPr>
        <p:txBody>
          <a:bodyPr wrap="none" lIns="0" rIns="0" tIns="0" bIns="0">
            <a:spAutoFit/>
          </a:bodyPr>
          <a:lstStyle/>
          <a:p>
            <a:pPr>
              <a:defRPr sz="1800" b="0">
                <a:solidFill>
                  <a:srgbClr val="DCE8EF"/>
                </a:solidFill>
                <a:latin typeface="Arial"/>
              </a:defRPr>
            </a:pPr>
            <a:r>
              <a:t>Income–longevity rank</a:t>
            </a:r>
          </a:p>
        </p:txBody>
      </p:sp>
      <p:sp>
        <p:nvSpPr>
          <p:cNvPr id="11" name="TextBox 10"/>
          <p:cNvSpPr txBox="1"/>
          <p:nvPr/>
        </p:nvSpPr>
        <p:spPr>
          <a:xfrm>
            <a:off x="841248" y="3136392"/>
            <a:ext cx="1225296" cy="362102"/>
          </a:xfrm>
          <a:prstGeom prst="rect">
            <a:avLst/>
          </a:prstGeom>
          <a:noFill/>
        </p:spPr>
        <p:txBody>
          <a:bodyPr wrap="none" lIns="0" rIns="0" tIns="0" bIns="0">
            <a:spAutoFit/>
          </a:bodyPr>
          <a:lstStyle/>
          <a:p>
            <a:pPr>
              <a:defRPr sz="1800" b="0">
                <a:solidFill>
                  <a:srgbClr val="DCE8EF"/>
                </a:solidFill>
                <a:latin typeface="Arial"/>
              </a:defRPr>
            </a:pPr>
            <a:r>
              <a:t>correlation</a:t>
            </a:r>
          </a:p>
        </p:txBody>
      </p:sp>
      <p:sp>
        <p:nvSpPr>
          <p:cNvPr id="12" name="TextBox 11"/>
          <p:cNvSpPr txBox="1"/>
          <p:nvPr/>
        </p:nvSpPr>
        <p:spPr>
          <a:xfrm>
            <a:off x="841248" y="3739896"/>
            <a:ext cx="2432018" cy="362102"/>
          </a:xfrm>
          <a:prstGeom prst="rect">
            <a:avLst/>
          </a:prstGeom>
          <a:noFill/>
        </p:spPr>
        <p:txBody>
          <a:bodyPr wrap="none" lIns="0" rIns="0" tIns="0" bIns="0">
            <a:spAutoFit/>
          </a:bodyPr>
          <a:lstStyle/>
          <a:p>
            <a:pPr>
              <a:defRPr sz="1800" b="0">
                <a:solidFill>
                  <a:srgbClr val="DCE8EF"/>
                </a:solidFill>
                <a:latin typeface="Arial"/>
              </a:defRPr>
            </a:pPr>
            <a:r>
              <a:t>182 economies · 2011</a:t>
            </a:r>
          </a:p>
        </p:txBody>
      </p:sp>
      <p:sp>
        <p:nvSpPr>
          <p:cNvPr id="13" name="TextBox 12"/>
          <p:cNvSpPr txBox="1"/>
          <p:nvPr/>
        </p:nvSpPr>
        <p:spPr>
          <a:xfrm>
            <a:off x="841248" y="4041648"/>
            <a:ext cx="3136392" cy="362102"/>
          </a:xfrm>
          <a:prstGeom prst="rect">
            <a:avLst/>
          </a:prstGeom>
          <a:noFill/>
        </p:spPr>
        <p:txBody>
          <a:bodyPr wrap="none" lIns="0" rIns="0" tIns="0" bIns="0">
            <a:spAutoFit/>
          </a:bodyPr>
          <a:lstStyle/>
          <a:p>
            <a:pPr>
              <a:defRPr sz="1800" b="0">
                <a:solidFill>
                  <a:srgbClr val="DCE8EF"/>
                </a:solidFill>
                <a:latin typeface="Arial"/>
              </a:defRPr>
            </a:pPr>
            <a:r>
              <a:t>Income shown on a log scale</a:t>
            </a:r>
          </a:p>
        </p:txBody>
      </p:sp>
      <p:sp>
        <p:nvSpPr>
          <p:cNvPr id="14" name="TextBox 13"/>
          <p:cNvSpPr txBox="1"/>
          <p:nvPr/>
        </p:nvSpPr>
        <p:spPr>
          <a:xfrm>
            <a:off x="841248" y="4343400"/>
            <a:ext cx="3154680" cy="362102"/>
          </a:xfrm>
          <a:prstGeom prst="rect">
            <a:avLst/>
          </a:prstGeom>
          <a:noFill/>
        </p:spPr>
        <p:txBody>
          <a:bodyPr wrap="none" lIns="0" rIns="0" tIns="0" bIns="0">
            <a:spAutoFit/>
          </a:bodyPr>
          <a:lstStyle/>
          <a:p>
            <a:pPr>
              <a:defRPr sz="1800" b="0">
                <a:solidFill>
                  <a:srgbClr val="DCE8EF"/>
                </a:solidFill>
                <a:latin typeface="Arial"/>
              </a:defRPr>
            </a:pPr>
            <a:r>
              <a:t>Color shows CO₂ per person</a:t>
            </a:r>
          </a:p>
        </p:txBody>
      </p:sp>
      <p:sp>
        <p:nvSpPr>
          <p:cNvPr id="15" name="Rectangle 14"/>
          <p:cNvSpPr/>
          <p:nvPr/>
        </p:nvSpPr>
        <p:spPr>
          <a:xfrm>
            <a:off x="4709160" y="1691640"/>
            <a:ext cx="9308592" cy="548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ncome_life.png"/>
          <p:cNvPicPr>
            <a:picLocks noChangeAspect="1"/>
          </p:cNvPicPr>
          <p:nvPr/>
        </p:nvPicPr>
        <p:blipFill>
          <a:blip r:embed="rId2"/>
          <a:stretch>
            <a:fillRect/>
          </a:stretch>
        </p:blipFill>
        <p:spPr>
          <a:xfrm>
            <a:off x="4846320" y="2066543"/>
            <a:ext cx="9034272" cy="473659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4630400" cy="10972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93192"/>
            <a:ext cx="2816209" cy="263347"/>
          </a:xfrm>
          <a:prstGeom prst="rect">
            <a:avLst/>
          </a:prstGeom>
          <a:noFill/>
        </p:spPr>
        <p:txBody>
          <a:bodyPr wrap="none" lIns="0" rIns="0" tIns="0" bIns="0">
            <a:spAutoFit/>
          </a:bodyPr>
          <a:lstStyle/>
          <a:p>
            <a:pPr>
              <a:defRPr sz="1296" b="1">
                <a:solidFill>
                  <a:srgbClr val="008C95"/>
                </a:solidFill>
                <a:latin typeface="Arial"/>
              </a:defRPr>
            </a:pPr>
            <a:r>
              <a:t>WEALTH · LONGEVITY · CARBON</a:t>
            </a:r>
          </a:p>
        </p:txBody>
      </p:sp>
      <p:sp>
        <p:nvSpPr>
          <p:cNvPr id="4" name="TextBox 3"/>
          <p:cNvSpPr txBox="1"/>
          <p:nvPr/>
        </p:nvSpPr>
        <p:spPr>
          <a:xfrm>
            <a:off x="603504" y="822960"/>
            <a:ext cx="5907024" cy="636422"/>
          </a:xfrm>
          <a:prstGeom prst="rect">
            <a:avLst/>
          </a:prstGeom>
          <a:noFill/>
        </p:spPr>
        <p:txBody>
          <a:bodyPr wrap="none" lIns="0" rIns="0" tIns="0" bIns="0">
            <a:spAutoFit/>
          </a:bodyPr>
          <a:lstStyle/>
          <a:p>
            <a:pPr>
              <a:defRPr sz="3095" b="1">
                <a:solidFill>
                  <a:srgbClr val="142B49"/>
                </a:solidFill>
                <a:latin typeface="Arial"/>
              </a:defRPr>
            </a:pPr>
            <a:r>
              <a:t>Longer lives, higher emissions</a:t>
            </a:r>
          </a:p>
        </p:txBody>
      </p:sp>
      <p:sp>
        <p:nvSpPr>
          <p:cNvPr id="5" name="Rectangle 4"/>
          <p:cNvSpPr/>
          <p:nvPr/>
        </p:nvSpPr>
        <p:spPr>
          <a:xfrm>
            <a:off x="603504" y="7616952"/>
            <a:ext cx="13423392" cy="18288"/>
          </a:xfrm>
          <a:prstGeom prst="rect">
            <a:avLst/>
          </a:prstGeom>
          <a:solidFill>
            <a:srgbClr val="D5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7772400"/>
            <a:ext cx="4590145" cy="230428"/>
          </a:xfrm>
          <a:prstGeom prst="rect">
            <a:avLst/>
          </a:prstGeom>
          <a:noFill/>
        </p:spPr>
        <p:txBody>
          <a:bodyPr wrap="none" lIns="0" rIns="0" tIns="0" bIns="0">
            <a:spAutoFit/>
          </a:bodyPr>
          <a:lstStyle/>
          <a:p>
            <a:pPr>
              <a:defRPr sz="1152" b="0">
                <a:solidFill>
                  <a:srgbClr val="56687B"/>
                </a:solidFill>
                <a:latin typeface="Arial"/>
              </a:defRPr>
            </a:pPr>
            <a:r>
              <a:t>Source: worlddata.csv | Historical data | AI-assisted analysis &amp; slides</a:t>
            </a:r>
          </a:p>
        </p:txBody>
      </p:sp>
      <p:sp>
        <p:nvSpPr>
          <p:cNvPr id="7" name="TextBox 6"/>
          <p:cNvSpPr txBox="1"/>
          <p:nvPr/>
        </p:nvSpPr>
        <p:spPr>
          <a:xfrm>
            <a:off x="13167360" y="7772400"/>
            <a:ext cx="612648" cy="241401"/>
          </a:xfrm>
          <a:prstGeom prst="rect">
            <a:avLst/>
          </a:prstGeom>
          <a:noFill/>
        </p:spPr>
        <p:txBody>
          <a:bodyPr wrap="none" lIns="0" rIns="0" tIns="0" bIns="0">
            <a:spAutoFit/>
          </a:bodyPr>
          <a:lstStyle/>
          <a:p>
            <a:pPr>
              <a:defRPr sz="1224" b="0">
                <a:solidFill>
                  <a:srgbClr val="56687B"/>
                </a:solidFill>
                <a:latin typeface="Arial"/>
              </a:defRPr>
            </a:pPr>
            <a:r>
              <a:t>03 / 09</a:t>
            </a:r>
          </a:p>
        </p:txBody>
      </p:sp>
      <p:sp>
        <p:nvSpPr>
          <p:cNvPr id="8" name="Rectangle 7"/>
          <p:cNvSpPr/>
          <p:nvPr/>
        </p:nvSpPr>
        <p:spPr>
          <a:xfrm>
            <a:off x="603504" y="1691640"/>
            <a:ext cx="3840480" cy="5486400"/>
          </a:xfrm>
          <a:prstGeom prst="rect">
            <a:avLst/>
          </a:prstGeom>
          <a:solidFill>
            <a:srgbClr val="14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039112"/>
            <a:ext cx="2112264" cy="570585"/>
          </a:xfrm>
          <a:prstGeom prst="rect">
            <a:avLst/>
          </a:prstGeom>
          <a:noFill/>
        </p:spPr>
        <p:txBody>
          <a:bodyPr wrap="none" lIns="0" rIns="0" tIns="0" bIns="0">
            <a:spAutoFit/>
          </a:bodyPr>
          <a:lstStyle/>
          <a:p>
            <a:pPr>
              <a:defRPr sz="2808" b="1">
                <a:solidFill>
                  <a:srgbClr val="FFFFFF"/>
                </a:solidFill>
                <a:latin typeface="Arial"/>
              </a:defRPr>
            </a:pPr>
            <a:r>
              <a:t>59.2 → 81.0</a:t>
            </a:r>
          </a:p>
        </p:txBody>
      </p:sp>
      <p:sp>
        <p:nvSpPr>
          <p:cNvPr id="10" name="TextBox 9"/>
          <p:cNvSpPr txBox="1"/>
          <p:nvPr/>
        </p:nvSpPr>
        <p:spPr>
          <a:xfrm>
            <a:off x="841248" y="2834640"/>
            <a:ext cx="3209258" cy="362102"/>
          </a:xfrm>
          <a:prstGeom prst="rect">
            <a:avLst/>
          </a:prstGeom>
          <a:noFill/>
        </p:spPr>
        <p:txBody>
          <a:bodyPr wrap="none" lIns="0" rIns="0" tIns="0" bIns="0">
            <a:spAutoFit/>
          </a:bodyPr>
          <a:lstStyle/>
          <a:p>
            <a:pPr>
              <a:defRPr sz="1800" b="0">
                <a:solidFill>
                  <a:srgbClr val="DCE8EF"/>
                </a:solidFill>
                <a:latin typeface="Arial"/>
              </a:defRPr>
            </a:pPr>
            <a:r>
              <a:t>Median life expectancy, years</a:t>
            </a:r>
          </a:p>
        </p:txBody>
      </p:sp>
      <p:sp>
        <p:nvSpPr>
          <p:cNvPr id="11" name="TextBox 10"/>
          <p:cNvSpPr txBox="1"/>
          <p:nvPr/>
        </p:nvSpPr>
        <p:spPr>
          <a:xfrm>
            <a:off x="841248" y="3438144"/>
            <a:ext cx="3236976" cy="362102"/>
          </a:xfrm>
          <a:prstGeom prst="rect">
            <a:avLst/>
          </a:prstGeom>
          <a:noFill/>
        </p:spPr>
        <p:txBody>
          <a:bodyPr wrap="none" lIns="0" rIns="0" tIns="0" bIns="0">
            <a:spAutoFit/>
          </a:bodyPr>
          <a:lstStyle/>
          <a:p>
            <a:pPr>
              <a:defRPr sz="1800" b="0">
                <a:solidFill>
                  <a:srgbClr val="DCE8EF"/>
                </a:solidFill>
                <a:latin typeface="Arial"/>
              </a:defRPr>
            </a:pPr>
            <a:r>
              <a:t>Lowest → highest income fifth</a:t>
            </a:r>
          </a:p>
        </p:txBody>
      </p:sp>
      <p:sp>
        <p:nvSpPr>
          <p:cNvPr id="12" name="TextBox 11"/>
          <p:cNvSpPr txBox="1"/>
          <p:nvPr/>
        </p:nvSpPr>
        <p:spPr>
          <a:xfrm>
            <a:off x="841248" y="3739896"/>
            <a:ext cx="2862072" cy="362102"/>
          </a:xfrm>
          <a:prstGeom prst="rect">
            <a:avLst/>
          </a:prstGeom>
          <a:noFill/>
        </p:spPr>
        <p:txBody>
          <a:bodyPr wrap="none" lIns="0" rIns="0" tIns="0" bIns="0">
            <a:spAutoFit/>
          </a:bodyPr>
          <a:lstStyle/>
          <a:p>
            <a:pPr>
              <a:defRPr sz="1800" b="0">
                <a:solidFill>
                  <a:srgbClr val="DCE8EF"/>
                </a:solidFill>
                <a:latin typeface="Arial"/>
              </a:defRPr>
            </a:pPr>
            <a:r>
              <a:t>Median CO₂: 0.16 → 8.92</a:t>
            </a:r>
          </a:p>
        </p:txBody>
      </p:sp>
      <p:sp>
        <p:nvSpPr>
          <p:cNvPr id="13" name="TextBox 12"/>
          <p:cNvSpPr txBox="1"/>
          <p:nvPr/>
        </p:nvSpPr>
        <p:spPr>
          <a:xfrm>
            <a:off x="841248" y="4041648"/>
            <a:ext cx="1746504" cy="362102"/>
          </a:xfrm>
          <a:prstGeom prst="rect">
            <a:avLst/>
          </a:prstGeom>
          <a:noFill/>
        </p:spPr>
        <p:txBody>
          <a:bodyPr wrap="none" lIns="0" rIns="0" tIns="0" bIns="0">
            <a:spAutoFit/>
          </a:bodyPr>
          <a:lstStyle/>
          <a:p>
            <a:pPr>
              <a:defRPr sz="1800" b="0">
                <a:solidFill>
                  <a:srgbClr val="DCE8EF"/>
                </a:solidFill>
                <a:latin typeface="Arial"/>
              </a:defRPr>
            </a:pPr>
            <a:r>
              <a:t>tons per person</a:t>
            </a:r>
          </a:p>
        </p:txBody>
      </p:sp>
      <p:sp>
        <p:nvSpPr>
          <p:cNvPr id="14" name="Rectangle 13"/>
          <p:cNvSpPr/>
          <p:nvPr/>
        </p:nvSpPr>
        <p:spPr>
          <a:xfrm>
            <a:off x="4709160" y="1691640"/>
            <a:ext cx="9308592" cy="548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quintiles.png"/>
          <p:cNvPicPr>
            <a:picLocks noChangeAspect="1"/>
          </p:cNvPicPr>
          <p:nvPr/>
        </p:nvPicPr>
        <p:blipFill>
          <a:blip r:embed="rId2"/>
          <a:stretch>
            <a:fillRect/>
          </a:stretch>
        </p:blipFill>
        <p:spPr>
          <a:xfrm>
            <a:off x="4846320" y="2624328"/>
            <a:ext cx="9034272" cy="362102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4630400" cy="10972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93192"/>
            <a:ext cx="2816209" cy="263347"/>
          </a:xfrm>
          <a:prstGeom prst="rect">
            <a:avLst/>
          </a:prstGeom>
          <a:noFill/>
        </p:spPr>
        <p:txBody>
          <a:bodyPr wrap="none" lIns="0" rIns="0" tIns="0" bIns="0">
            <a:spAutoFit/>
          </a:bodyPr>
          <a:lstStyle/>
          <a:p>
            <a:pPr>
              <a:defRPr sz="1296" b="1">
                <a:solidFill>
                  <a:srgbClr val="008C95"/>
                </a:solidFill>
                <a:latin typeface="Arial"/>
              </a:defRPr>
            </a:pPr>
            <a:r>
              <a:t>WEALTH · LONGEVITY · CARBON</a:t>
            </a:r>
          </a:p>
        </p:txBody>
      </p:sp>
      <p:sp>
        <p:nvSpPr>
          <p:cNvPr id="4" name="TextBox 3"/>
          <p:cNvSpPr txBox="1"/>
          <p:nvPr/>
        </p:nvSpPr>
        <p:spPr>
          <a:xfrm>
            <a:off x="603504" y="822960"/>
            <a:ext cx="8028431" cy="636422"/>
          </a:xfrm>
          <a:prstGeom prst="rect">
            <a:avLst/>
          </a:prstGeom>
          <a:noFill/>
        </p:spPr>
        <p:txBody>
          <a:bodyPr wrap="none" lIns="0" rIns="0" tIns="0" bIns="0">
            <a:spAutoFit/>
          </a:bodyPr>
          <a:lstStyle/>
          <a:p>
            <a:pPr>
              <a:defRPr sz="3095" b="1">
                <a:solidFill>
                  <a:srgbClr val="142B49"/>
                </a:solidFill>
                <a:latin typeface="Arial"/>
              </a:defRPr>
            </a:pPr>
            <a:r>
              <a:t>Longevity improved; emissions often rose</a:t>
            </a:r>
          </a:p>
        </p:txBody>
      </p:sp>
      <p:sp>
        <p:nvSpPr>
          <p:cNvPr id="5" name="Rectangle 4"/>
          <p:cNvSpPr/>
          <p:nvPr/>
        </p:nvSpPr>
        <p:spPr>
          <a:xfrm>
            <a:off x="603504" y="7616952"/>
            <a:ext cx="13423392" cy="18288"/>
          </a:xfrm>
          <a:prstGeom prst="rect">
            <a:avLst/>
          </a:prstGeom>
          <a:solidFill>
            <a:srgbClr val="D5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7772400"/>
            <a:ext cx="4590145" cy="230428"/>
          </a:xfrm>
          <a:prstGeom prst="rect">
            <a:avLst/>
          </a:prstGeom>
          <a:noFill/>
        </p:spPr>
        <p:txBody>
          <a:bodyPr wrap="none" lIns="0" rIns="0" tIns="0" bIns="0">
            <a:spAutoFit/>
          </a:bodyPr>
          <a:lstStyle/>
          <a:p>
            <a:pPr>
              <a:defRPr sz="1152" b="0">
                <a:solidFill>
                  <a:srgbClr val="56687B"/>
                </a:solidFill>
                <a:latin typeface="Arial"/>
              </a:defRPr>
            </a:pPr>
            <a:r>
              <a:t>Source: worlddata.csv | Historical data | AI-assisted analysis &amp; slides</a:t>
            </a:r>
          </a:p>
        </p:txBody>
      </p:sp>
      <p:sp>
        <p:nvSpPr>
          <p:cNvPr id="7" name="TextBox 6"/>
          <p:cNvSpPr txBox="1"/>
          <p:nvPr/>
        </p:nvSpPr>
        <p:spPr>
          <a:xfrm>
            <a:off x="13167360" y="7772400"/>
            <a:ext cx="612648" cy="241401"/>
          </a:xfrm>
          <a:prstGeom prst="rect">
            <a:avLst/>
          </a:prstGeom>
          <a:noFill/>
        </p:spPr>
        <p:txBody>
          <a:bodyPr wrap="none" lIns="0" rIns="0" tIns="0" bIns="0">
            <a:spAutoFit/>
          </a:bodyPr>
          <a:lstStyle/>
          <a:p>
            <a:pPr>
              <a:defRPr sz="1224" b="0">
                <a:solidFill>
                  <a:srgbClr val="56687B"/>
                </a:solidFill>
                <a:latin typeface="Arial"/>
              </a:defRPr>
            </a:pPr>
            <a:r>
              <a:t>04 / 09</a:t>
            </a:r>
          </a:p>
        </p:txBody>
      </p:sp>
      <p:sp>
        <p:nvSpPr>
          <p:cNvPr id="8" name="Rectangle 7"/>
          <p:cNvSpPr/>
          <p:nvPr/>
        </p:nvSpPr>
        <p:spPr>
          <a:xfrm>
            <a:off x="603504" y="1691640"/>
            <a:ext cx="3840480" cy="5486400"/>
          </a:xfrm>
          <a:prstGeom prst="rect">
            <a:avLst/>
          </a:prstGeom>
          <a:solidFill>
            <a:srgbClr val="14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039112"/>
            <a:ext cx="2103120" cy="570585"/>
          </a:xfrm>
          <a:prstGeom prst="rect">
            <a:avLst/>
          </a:prstGeom>
          <a:noFill/>
        </p:spPr>
        <p:txBody>
          <a:bodyPr wrap="none" lIns="0" rIns="0" tIns="0" bIns="0">
            <a:spAutoFit/>
          </a:bodyPr>
          <a:lstStyle/>
          <a:p>
            <a:pPr>
              <a:defRPr sz="2808" b="1">
                <a:solidFill>
                  <a:srgbClr val="FFFFFF"/>
                </a:solidFill>
                <a:latin typeface="Arial"/>
              </a:defRPr>
            </a:pPr>
            <a:r>
              <a:t>+5.58 years</a:t>
            </a:r>
          </a:p>
        </p:txBody>
      </p:sp>
      <p:sp>
        <p:nvSpPr>
          <p:cNvPr id="10" name="TextBox 9"/>
          <p:cNvSpPr txBox="1"/>
          <p:nvPr/>
        </p:nvSpPr>
        <p:spPr>
          <a:xfrm>
            <a:off x="841248" y="2834640"/>
            <a:ext cx="2276856" cy="362102"/>
          </a:xfrm>
          <a:prstGeom prst="rect">
            <a:avLst/>
          </a:prstGeom>
          <a:noFill/>
        </p:spPr>
        <p:txBody>
          <a:bodyPr wrap="none" lIns="0" rIns="0" tIns="0" bIns="0">
            <a:spAutoFit/>
          </a:bodyPr>
          <a:lstStyle/>
          <a:p>
            <a:pPr>
              <a:defRPr sz="1800" b="0">
                <a:solidFill>
                  <a:srgbClr val="DCE8EF"/>
                </a:solidFill>
                <a:latin typeface="Arial"/>
              </a:defRPr>
            </a:pPr>
            <a:r>
              <a:t>Mean longevity gain,</a:t>
            </a:r>
          </a:p>
        </p:txBody>
      </p:sp>
      <p:sp>
        <p:nvSpPr>
          <p:cNvPr id="11" name="TextBox 10"/>
          <p:cNvSpPr txBox="1"/>
          <p:nvPr/>
        </p:nvSpPr>
        <p:spPr>
          <a:xfrm>
            <a:off x="841248" y="3136392"/>
            <a:ext cx="1298162" cy="362102"/>
          </a:xfrm>
          <a:prstGeom prst="rect">
            <a:avLst/>
          </a:prstGeom>
          <a:noFill/>
        </p:spPr>
        <p:txBody>
          <a:bodyPr wrap="none" lIns="0" rIns="0" tIns="0" bIns="0">
            <a:spAutoFit/>
          </a:bodyPr>
          <a:lstStyle/>
          <a:p>
            <a:pPr>
              <a:defRPr sz="1800" b="0">
                <a:solidFill>
                  <a:srgbClr val="DCE8EF"/>
                </a:solidFill>
                <a:latin typeface="Arial"/>
              </a:defRPr>
            </a:pPr>
            <a:r>
              <a:t>1990–2011</a:t>
            </a:r>
          </a:p>
        </p:txBody>
      </p:sp>
      <p:sp>
        <p:nvSpPr>
          <p:cNvPr id="12" name="TextBox 11"/>
          <p:cNvSpPr txBox="1"/>
          <p:nvPr/>
        </p:nvSpPr>
        <p:spPr>
          <a:xfrm>
            <a:off x="841248" y="3438144"/>
            <a:ext cx="2670048" cy="362102"/>
          </a:xfrm>
          <a:prstGeom prst="rect">
            <a:avLst/>
          </a:prstGeom>
          <a:noFill/>
        </p:spPr>
        <p:txBody>
          <a:bodyPr wrap="none" lIns="0" rIns="0" tIns="0" bIns="0">
            <a:spAutoFit/>
          </a:bodyPr>
          <a:lstStyle/>
          <a:p>
            <a:pPr>
              <a:defRPr sz="1800" b="0">
                <a:solidFill>
                  <a:srgbClr val="DCE8EF"/>
                </a:solidFill>
                <a:latin typeface="Arial"/>
              </a:defRPr>
            </a:pPr>
            <a:r>
              <a:t>195 matched economies</a:t>
            </a:r>
          </a:p>
        </p:txBody>
      </p:sp>
      <p:sp>
        <p:nvSpPr>
          <p:cNvPr id="13" name="TextBox 12"/>
          <p:cNvSpPr txBox="1"/>
          <p:nvPr/>
        </p:nvSpPr>
        <p:spPr>
          <a:xfrm>
            <a:off x="841248" y="4041648"/>
            <a:ext cx="2578608" cy="362102"/>
          </a:xfrm>
          <a:prstGeom prst="rect">
            <a:avLst/>
          </a:prstGeom>
          <a:noFill/>
        </p:spPr>
        <p:txBody>
          <a:bodyPr wrap="none" lIns="0" rIns="0" tIns="0" bIns="0">
            <a:spAutoFit/>
          </a:bodyPr>
          <a:lstStyle/>
          <a:p>
            <a:pPr>
              <a:defRPr sz="1800" b="0">
                <a:solidFill>
                  <a:srgbClr val="DCE8EF"/>
                </a:solidFill>
                <a:latin typeface="Arial"/>
              </a:defRPr>
            </a:pPr>
            <a:r>
              <a:t>CO₂ rose in 70.5% of a</a:t>
            </a:r>
          </a:p>
        </p:txBody>
      </p:sp>
      <p:sp>
        <p:nvSpPr>
          <p:cNvPr id="14" name="TextBox 13"/>
          <p:cNvSpPr txBox="1"/>
          <p:nvPr/>
        </p:nvSpPr>
        <p:spPr>
          <a:xfrm>
            <a:off x="841248" y="4343400"/>
            <a:ext cx="1042415" cy="362102"/>
          </a:xfrm>
          <a:prstGeom prst="rect">
            <a:avLst/>
          </a:prstGeom>
          <a:noFill/>
        </p:spPr>
        <p:txBody>
          <a:bodyPr wrap="none" lIns="0" rIns="0" tIns="0" bIns="0">
            <a:spAutoFit/>
          </a:bodyPr>
          <a:lstStyle/>
          <a:p>
            <a:pPr>
              <a:defRPr sz="1800" b="0">
                <a:solidFill>
                  <a:srgbClr val="DCE8EF"/>
                </a:solidFill>
                <a:latin typeface="Arial"/>
              </a:defRPr>
            </a:pPr>
            <a:r>
              <a:t>separate</a:t>
            </a:r>
          </a:p>
        </p:txBody>
      </p:sp>
      <p:sp>
        <p:nvSpPr>
          <p:cNvPr id="15" name="TextBox 14"/>
          <p:cNvSpPr txBox="1"/>
          <p:nvPr/>
        </p:nvSpPr>
        <p:spPr>
          <a:xfrm>
            <a:off x="841248" y="4645152"/>
            <a:ext cx="2423160" cy="362102"/>
          </a:xfrm>
          <a:prstGeom prst="rect">
            <a:avLst/>
          </a:prstGeom>
          <a:noFill/>
        </p:spPr>
        <p:txBody>
          <a:bodyPr wrap="none" lIns="0" rIns="0" tIns="0" bIns="0">
            <a:spAutoFit/>
          </a:bodyPr>
          <a:lstStyle/>
          <a:p>
            <a:pPr>
              <a:defRPr sz="1800" b="0">
                <a:solidFill>
                  <a:srgbClr val="DCE8EF"/>
                </a:solidFill>
                <a:latin typeface="Arial"/>
              </a:defRPr>
            </a:pPr>
            <a:r>
              <a:t>166-economy sample.</a:t>
            </a:r>
          </a:p>
        </p:txBody>
      </p:sp>
      <p:sp>
        <p:nvSpPr>
          <p:cNvPr id="16" name="Rectangle 15"/>
          <p:cNvSpPr/>
          <p:nvPr/>
        </p:nvSpPr>
        <p:spPr>
          <a:xfrm>
            <a:off x="4709160" y="1691640"/>
            <a:ext cx="9308592" cy="548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atched_change.png"/>
          <p:cNvPicPr>
            <a:picLocks noChangeAspect="1"/>
          </p:cNvPicPr>
          <p:nvPr/>
        </p:nvPicPr>
        <p:blipFill>
          <a:blip r:embed="rId2"/>
          <a:stretch>
            <a:fillRect/>
          </a:stretch>
        </p:blipFill>
        <p:spPr>
          <a:xfrm>
            <a:off x="4846320" y="2660904"/>
            <a:ext cx="9034272" cy="353872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4630400" cy="10972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93192"/>
            <a:ext cx="2816209" cy="263347"/>
          </a:xfrm>
          <a:prstGeom prst="rect">
            <a:avLst/>
          </a:prstGeom>
          <a:noFill/>
        </p:spPr>
        <p:txBody>
          <a:bodyPr wrap="none" lIns="0" rIns="0" tIns="0" bIns="0">
            <a:spAutoFit/>
          </a:bodyPr>
          <a:lstStyle/>
          <a:p>
            <a:pPr>
              <a:defRPr sz="1296" b="1">
                <a:solidFill>
                  <a:srgbClr val="008C95"/>
                </a:solidFill>
                <a:latin typeface="Arial"/>
              </a:defRPr>
            </a:pPr>
            <a:r>
              <a:t>WEALTH · LONGEVITY · CARBON</a:t>
            </a:r>
          </a:p>
        </p:txBody>
      </p:sp>
      <p:sp>
        <p:nvSpPr>
          <p:cNvPr id="4" name="TextBox 3"/>
          <p:cNvSpPr txBox="1"/>
          <p:nvPr/>
        </p:nvSpPr>
        <p:spPr>
          <a:xfrm>
            <a:off x="603504" y="822960"/>
            <a:ext cx="7360920" cy="636422"/>
          </a:xfrm>
          <a:prstGeom prst="rect">
            <a:avLst/>
          </a:prstGeom>
          <a:noFill/>
        </p:spPr>
        <p:txBody>
          <a:bodyPr wrap="none" lIns="0" rIns="0" tIns="0" bIns="0">
            <a:spAutoFit/>
          </a:bodyPr>
          <a:lstStyle/>
          <a:p>
            <a:pPr>
              <a:defRPr sz="3095" b="1">
                <a:solidFill>
                  <a:srgbClr val="142B49"/>
                </a:solidFill>
                <a:latin typeface="Arial"/>
              </a:defRPr>
            </a:pPr>
            <a:r>
              <a:t>More than income improves prediction</a:t>
            </a:r>
          </a:p>
        </p:txBody>
      </p:sp>
      <p:sp>
        <p:nvSpPr>
          <p:cNvPr id="5" name="Rectangle 4"/>
          <p:cNvSpPr/>
          <p:nvPr/>
        </p:nvSpPr>
        <p:spPr>
          <a:xfrm>
            <a:off x="603504" y="7616952"/>
            <a:ext cx="13423392" cy="18288"/>
          </a:xfrm>
          <a:prstGeom prst="rect">
            <a:avLst/>
          </a:prstGeom>
          <a:solidFill>
            <a:srgbClr val="D5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7772400"/>
            <a:ext cx="4590145" cy="230428"/>
          </a:xfrm>
          <a:prstGeom prst="rect">
            <a:avLst/>
          </a:prstGeom>
          <a:noFill/>
        </p:spPr>
        <p:txBody>
          <a:bodyPr wrap="none" lIns="0" rIns="0" tIns="0" bIns="0">
            <a:spAutoFit/>
          </a:bodyPr>
          <a:lstStyle/>
          <a:p>
            <a:pPr>
              <a:defRPr sz="1152" b="0">
                <a:solidFill>
                  <a:srgbClr val="56687B"/>
                </a:solidFill>
                <a:latin typeface="Arial"/>
              </a:defRPr>
            </a:pPr>
            <a:r>
              <a:t>Source: worlddata.csv | Historical data | AI-assisted analysis &amp; slides</a:t>
            </a:r>
          </a:p>
        </p:txBody>
      </p:sp>
      <p:sp>
        <p:nvSpPr>
          <p:cNvPr id="7" name="TextBox 6"/>
          <p:cNvSpPr txBox="1"/>
          <p:nvPr/>
        </p:nvSpPr>
        <p:spPr>
          <a:xfrm>
            <a:off x="13167360" y="7772400"/>
            <a:ext cx="612648" cy="241401"/>
          </a:xfrm>
          <a:prstGeom prst="rect">
            <a:avLst/>
          </a:prstGeom>
          <a:noFill/>
        </p:spPr>
        <p:txBody>
          <a:bodyPr wrap="none" lIns="0" rIns="0" tIns="0" bIns="0">
            <a:spAutoFit/>
          </a:bodyPr>
          <a:lstStyle/>
          <a:p>
            <a:pPr>
              <a:defRPr sz="1224" b="0">
                <a:solidFill>
                  <a:srgbClr val="56687B"/>
                </a:solidFill>
                <a:latin typeface="Arial"/>
              </a:defRPr>
            </a:pPr>
            <a:r>
              <a:t>05 / 09</a:t>
            </a:r>
          </a:p>
        </p:txBody>
      </p:sp>
      <p:sp>
        <p:nvSpPr>
          <p:cNvPr id="8" name="Rectangle 7"/>
          <p:cNvSpPr/>
          <p:nvPr/>
        </p:nvSpPr>
        <p:spPr>
          <a:xfrm>
            <a:off x="603504" y="1691640"/>
            <a:ext cx="3840480" cy="5486400"/>
          </a:xfrm>
          <a:prstGeom prst="rect">
            <a:avLst/>
          </a:prstGeom>
          <a:solidFill>
            <a:srgbClr val="14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039112"/>
            <a:ext cx="2606040" cy="570585"/>
          </a:xfrm>
          <a:prstGeom prst="rect">
            <a:avLst/>
          </a:prstGeom>
          <a:noFill/>
        </p:spPr>
        <p:txBody>
          <a:bodyPr wrap="none" lIns="0" rIns="0" tIns="0" bIns="0">
            <a:spAutoFit/>
          </a:bodyPr>
          <a:lstStyle/>
          <a:p>
            <a:pPr>
              <a:defRPr sz="2808" b="1">
                <a:solidFill>
                  <a:srgbClr val="FFFFFF"/>
                </a:solidFill>
                <a:latin typeface="Arial"/>
              </a:defRPr>
            </a:pPr>
            <a:r>
              <a:t>29% less error</a:t>
            </a:r>
          </a:p>
        </p:txBody>
      </p:sp>
      <p:sp>
        <p:nvSpPr>
          <p:cNvPr id="10" name="TextBox 9"/>
          <p:cNvSpPr txBox="1"/>
          <p:nvPr/>
        </p:nvSpPr>
        <p:spPr>
          <a:xfrm>
            <a:off x="841248" y="2834640"/>
            <a:ext cx="3054096" cy="362102"/>
          </a:xfrm>
          <a:prstGeom prst="rect">
            <a:avLst/>
          </a:prstGeom>
          <a:noFill/>
        </p:spPr>
        <p:txBody>
          <a:bodyPr wrap="none" lIns="0" rIns="0" tIns="0" bIns="0">
            <a:spAutoFit/>
          </a:bodyPr>
          <a:lstStyle/>
          <a:p>
            <a:pPr>
              <a:defRPr sz="1800" b="0">
                <a:solidFill>
                  <a:srgbClr val="DCE8EF"/>
                </a:solidFill>
                <a:latin typeface="Arial"/>
              </a:defRPr>
            </a:pPr>
            <a:r>
              <a:t>Forest vs. log-income model</a:t>
            </a:r>
          </a:p>
        </p:txBody>
      </p:sp>
      <p:sp>
        <p:nvSpPr>
          <p:cNvPr id="11" name="TextBox 10"/>
          <p:cNvSpPr txBox="1"/>
          <p:nvPr/>
        </p:nvSpPr>
        <p:spPr>
          <a:xfrm>
            <a:off x="841248" y="3136392"/>
            <a:ext cx="3245691" cy="362102"/>
          </a:xfrm>
          <a:prstGeom prst="rect">
            <a:avLst/>
          </a:prstGeom>
          <a:noFill/>
        </p:spPr>
        <p:txBody>
          <a:bodyPr wrap="none" lIns="0" rIns="0" tIns="0" bIns="0">
            <a:spAutoFit/>
          </a:bodyPr>
          <a:lstStyle/>
          <a:p>
            <a:pPr>
              <a:defRPr sz="1800" b="0">
                <a:solidFill>
                  <a:srgbClr val="DCE8EF"/>
                </a:solidFill>
                <a:latin typeface="Arial"/>
              </a:defRPr>
            </a:pPr>
            <a:r>
              <a:t>Test MAE: 3.29 vs. 4.62 years</a:t>
            </a:r>
          </a:p>
        </p:txBody>
      </p:sp>
      <p:sp>
        <p:nvSpPr>
          <p:cNvPr id="12" name="TextBox 11"/>
          <p:cNvSpPr txBox="1"/>
          <p:nvPr/>
        </p:nvSpPr>
        <p:spPr>
          <a:xfrm>
            <a:off x="841248" y="3739896"/>
            <a:ext cx="3118104" cy="362102"/>
          </a:xfrm>
          <a:prstGeom prst="rect">
            <a:avLst/>
          </a:prstGeom>
          <a:noFill/>
        </p:spPr>
        <p:txBody>
          <a:bodyPr wrap="none" lIns="0" rIns="0" tIns="0" bIns="0">
            <a:spAutoFit/>
          </a:bodyPr>
          <a:lstStyle/>
          <a:p>
            <a:pPr>
              <a:defRPr sz="1800" b="0">
                <a:solidFill>
                  <a:srgbClr val="DCE8EF"/>
                </a:solidFill>
                <a:latin typeface="Arial"/>
              </a:defRPr>
            </a:pPr>
            <a:r>
              <a:t>128 train / 43 test economies</a:t>
            </a:r>
          </a:p>
        </p:txBody>
      </p:sp>
      <p:sp>
        <p:nvSpPr>
          <p:cNvPr id="13" name="TextBox 12"/>
          <p:cNvSpPr txBox="1"/>
          <p:nvPr/>
        </p:nvSpPr>
        <p:spPr>
          <a:xfrm>
            <a:off x="841248" y="4041648"/>
            <a:ext cx="2679192" cy="362102"/>
          </a:xfrm>
          <a:prstGeom prst="rect">
            <a:avLst/>
          </a:prstGeom>
          <a:noFill/>
        </p:spPr>
        <p:txBody>
          <a:bodyPr wrap="none" lIns="0" rIns="0" tIns="0" bIns="0">
            <a:spAutoFit/>
          </a:bodyPr>
          <a:lstStyle/>
          <a:p>
            <a:pPr>
              <a:defRPr sz="1800" b="0">
                <a:solidFill>
                  <a:srgbClr val="DCE8EF"/>
                </a:solidFill>
                <a:latin typeface="Arial"/>
              </a:defRPr>
            </a:pPr>
            <a:r>
              <a:t>Five-fold selection within</a:t>
            </a:r>
          </a:p>
        </p:txBody>
      </p:sp>
      <p:sp>
        <p:nvSpPr>
          <p:cNvPr id="14" name="TextBox 13"/>
          <p:cNvSpPr txBox="1"/>
          <p:nvPr/>
        </p:nvSpPr>
        <p:spPr>
          <a:xfrm>
            <a:off x="841248" y="4343400"/>
            <a:ext cx="905256" cy="362102"/>
          </a:xfrm>
          <a:prstGeom prst="rect">
            <a:avLst/>
          </a:prstGeom>
          <a:noFill/>
        </p:spPr>
        <p:txBody>
          <a:bodyPr wrap="none" lIns="0" rIns="0" tIns="0" bIns="0">
            <a:spAutoFit/>
          </a:bodyPr>
          <a:lstStyle/>
          <a:p>
            <a:pPr>
              <a:defRPr sz="1800" b="0">
                <a:solidFill>
                  <a:srgbClr val="DCE8EF"/>
                </a:solidFill>
                <a:latin typeface="Arial"/>
              </a:defRPr>
            </a:pPr>
            <a:r>
              <a:t>training</a:t>
            </a:r>
          </a:p>
        </p:txBody>
      </p:sp>
      <p:sp>
        <p:nvSpPr>
          <p:cNvPr id="15" name="Rectangle 14"/>
          <p:cNvSpPr/>
          <p:nvPr/>
        </p:nvSpPr>
        <p:spPr>
          <a:xfrm>
            <a:off x="4709160" y="1691640"/>
            <a:ext cx="9308592" cy="548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odels.png"/>
          <p:cNvPicPr>
            <a:picLocks noChangeAspect="1"/>
          </p:cNvPicPr>
          <p:nvPr/>
        </p:nvPicPr>
        <p:blipFill>
          <a:blip r:embed="rId2"/>
          <a:stretch>
            <a:fillRect/>
          </a:stretch>
        </p:blipFill>
        <p:spPr>
          <a:xfrm>
            <a:off x="4846320" y="2660904"/>
            <a:ext cx="9034272" cy="353872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4630400" cy="10972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93192"/>
            <a:ext cx="2816209" cy="263347"/>
          </a:xfrm>
          <a:prstGeom prst="rect">
            <a:avLst/>
          </a:prstGeom>
          <a:noFill/>
        </p:spPr>
        <p:txBody>
          <a:bodyPr wrap="none" lIns="0" rIns="0" tIns="0" bIns="0">
            <a:spAutoFit/>
          </a:bodyPr>
          <a:lstStyle/>
          <a:p>
            <a:pPr>
              <a:defRPr sz="1296" b="1">
                <a:solidFill>
                  <a:srgbClr val="008C95"/>
                </a:solidFill>
                <a:latin typeface="Arial"/>
              </a:defRPr>
            </a:pPr>
            <a:r>
              <a:t>WEALTH · LONGEVITY · CARBON</a:t>
            </a:r>
          </a:p>
        </p:txBody>
      </p:sp>
      <p:sp>
        <p:nvSpPr>
          <p:cNvPr id="4" name="TextBox 3"/>
          <p:cNvSpPr txBox="1"/>
          <p:nvPr/>
        </p:nvSpPr>
        <p:spPr>
          <a:xfrm>
            <a:off x="603504" y="822960"/>
            <a:ext cx="7571231" cy="636422"/>
          </a:xfrm>
          <a:prstGeom prst="rect">
            <a:avLst/>
          </a:prstGeom>
          <a:noFill/>
        </p:spPr>
        <p:txBody>
          <a:bodyPr wrap="none" lIns="0" rIns="0" tIns="0" bIns="0">
            <a:spAutoFit/>
          </a:bodyPr>
          <a:lstStyle/>
          <a:p>
            <a:pPr>
              <a:defRPr sz="3095" b="1">
                <a:solidFill>
                  <a:srgbClr val="142B49"/>
                </a:solidFill>
                <a:latin typeface="Arial"/>
              </a:defRPr>
            </a:pPr>
            <a:r>
              <a:t>Sanitation is the strongest model signal</a:t>
            </a:r>
          </a:p>
        </p:txBody>
      </p:sp>
      <p:sp>
        <p:nvSpPr>
          <p:cNvPr id="5" name="Rectangle 4"/>
          <p:cNvSpPr/>
          <p:nvPr/>
        </p:nvSpPr>
        <p:spPr>
          <a:xfrm>
            <a:off x="603504" y="7616952"/>
            <a:ext cx="13423392" cy="18288"/>
          </a:xfrm>
          <a:prstGeom prst="rect">
            <a:avLst/>
          </a:prstGeom>
          <a:solidFill>
            <a:srgbClr val="D5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7772400"/>
            <a:ext cx="4590145" cy="230428"/>
          </a:xfrm>
          <a:prstGeom prst="rect">
            <a:avLst/>
          </a:prstGeom>
          <a:noFill/>
        </p:spPr>
        <p:txBody>
          <a:bodyPr wrap="none" lIns="0" rIns="0" tIns="0" bIns="0">
            <a:spAutoFit/>
          </a:bodyPr>
          <a:lstStyle/>
          <a:p>
            <a:pPr>
              <a:defRPr sz="1152" b="0">
                <a:solidFill>
                  <a:srgbClr val="56687B"/>
                </a:solidFill>
                <a:latin typeface="Arial"/>
              </a:defRPr>
            </a:pPr>
            <a:r>
              <a:t>Source: worlddata.csv | Historical data | AI-assisted analysis &amp; slides</a:t>
            </a:r>
          </a:p>
        </p:txBody>
      </p:sp>
      <p:sp>
        <p:nvSpPr>
          <p:cNvPr id="7" name="TextBox 6"/>
          <p:cNvSpPr txBox="1"/>
          <p:nvPr/>
        </p:nvSpPr>
        <p:spPr>
          <a:xfrm>
            <a:off x="13167360" y="7772400"/>
            <a:ext cx="612648" cy="241401"/>
          </a:xfrm>
          <a:prstGeom prst="rect">
            <a:avLst/>
          </a:prstGeom>
          <a:noFill/>
        </p:spPr>
        <p:txBody>
          <a:bodyPr wrap="none" lIns="0" rIns="0" tIns="0" bIns="0">
            <a:spAutoFit/>
          </a:bodyPr>
          <a:lstStyle/>
          <a:p>
            <a:pPr>
              <a:defRPr sz="1224" b="0">
                <a:solidFill>
                  <a:srgbClr val="56687B"/>
                </a:solidFill>
                <a:latin typeface="Arial"/>
              </a:defRPr>
            </a:pPr>
            <a:r>
              <a:t>06 / 09</a:t>
            </a:r>
          </a:p>
        </p:txBody>
      </p:sp>
      <p:sp>
        <p:nvSpPr>
          <p:cNvPr id="8" name="Rectangle 7"/>
          <p:cNvSpPr/>
          <p:nvPr/>
        </p:nvSpPr>
        <p:spPr>
          <a:xfrm>
            <a:off x="603504" y="1691640"/>
            <a:ext cx="3840480" cy="5486400"/>
          </a:xfrm>
          <a:prstGeom prst="rect">
            <a:avLst/>
          </a:prstGeom>
          <a:solidFill>
            <a:srgbClr val="14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039112"/>
            <a:ext cx="2103120" cy="570585"/>
          </a:xfrm>
          <a:prstGeom prst="rect">
            <a:avLst/>
          </a:prstGeom>
          <a:noFill/>
        </p:spPr>
        <p:txBody>
          <a:bodyPr wrap="none" lIns="0" rIns="0" tIns="0" bIns="0">
            <a:spAutoFit/>
          </a:bodyPr>
          <a:lstStyle/>
          <a:p>
            <a:pPr>
              <a:defRPr sz="2808" b="1">
                <a:solidFill>
                  <a:srgbClr val="FFFFFF"/>
                </a:solidFill>
                <a:latin typeface="Arial"/>
              </a:defRPr>
            </a:pPr>
            <a:r>
              <a:t>+1.76 years</a:t>
            </a:r>
          </a:p>
        </p:txBody>
      </p:sp>
      <p:sp>
        <p:nvSpPr>
          <p:cNvPr id="10" name="TextBox 9"/>
          <p:cNvSpPr txBox="1"/>
          <p:nvPr/>
        </p:nvSpPr>
        <p:spPr>
          <a:xfrm>
            <a:off x="841248" y="2834640"/>
            <a:ext cx="2276856" cy="362102"/>
          </a:xfrm>
          <a:prstGeom prst="rect">
            <a:avLst/>
          </a:prstGeom>
          <a:noFill/>
        </p:spPr>
        <p:txBody>
          <a:bodyPr wrap="none" lIns="0" rIns="0" tIns="0" bIns="0">
            <a:spAutoFit/>
          </a:bodyPr>
          <a:lstStyle/>
          <a:p>
            <a:pPr>
              <a:defRPr sz="1800" b="0">
                <a:solidFill>
                  <a:srgbClr val="DCE8EF"/>
                </a:solidFill>
                <a:latin typeface="Arial"/>
              </a:defRPr>
            </a:pPr>
            <a:r>
              <a:t>Extra test error when</a:t>
            </a:r>
          </a:p>
        </p:txBody>
      </p:sp>
      <p:sp>
        <p:nvSpPr>
          <p:cNvPr id="11" name="TextBox 10"/>
          <p:cNvSpPr txBox="1"/>
          <p:nvPr/>
        </p:nvSpPr>
        <p:spPr>
          <a:xfrm>
            <a:off x="841248" y="3136392"/>
            <a:ext cx="2258568" cy="362102"/>
          </a:xfrm>
          <a:prstGeom prst="rect">
            <a:avLst/>
          </a:prstGeom>
          <a:noFill/>
        </p:spPr>
        <p:txBody>
          <a:bodyPr wrap="none" lIns="0" rIns="0" tIns="0" bIns="0">
            <a:spAutoFit/>
          </a:bodyPr>
          <a:lstStyle/>
          <a:p>
            <a:pPr>
              <a:defRPr sz="1800" b="0">
                <a:solidFill>
                  <a:srgbClr val="DCE8EF"/>
                </a:solidFill>
                <a:latin typeface="Arial"/>
              </a:defRPr>
            </a:pPr>
            <a:r>
              <a:t>sanitation is shuffled</a:t>
            </a:r>
          </a:p>
        </p:txBody>
      </p:sp>
      <p:sp>
        <p:nvSpPr>
          <p:cNvPr id="12" name="TextBox 11"/>
          <p:cNvSpPr txBox="1"/>
          <p:nvPr/>
        </p:nvSpPr>
        <p:spPr>
          <a:xfrm>
            <a:off x="841248" y="3739896"/>
            <a:ext cx="3081385" cy="362102"/>
          </a:xfrm>
          <a:prstGeom prst="rect">
            <a:avLst/>
          </a:prstGeom>
          <a:noFill/>
        </p:spPr>
        <p:txBody>
          <a:bodyPr wrap="none" lIns="0" rIns="0" tIns="0" bIns="0">
            <a:spAutoFit/>
          </a:bodyPr>
          <a:lstStyle/>
          <a:p>
            <a:pPr>
              <a:defRPr sz="1800" b="0">
                <a:solidFill>
                  <a:srgbClr val="DCE8EF"/>
                </a:solidFill>
                <a:latin typeface="Arial"/>
              </a:defRPr>
            </a:pPr>
            <a:r>
              <a:t>Water and income also help.</a:t>
            </a:r>
          </a:p>
        </p:txBody>
      </p:sp>
      <p:sp>
        <p:nvSpPr>
          <p:cNvPr id="13" name="TextBox 12"/>
          <p:cNvSpPr txBox="1"/>
          <p:nvPr/>
        </p:nvSpPr>
        <p:spPr>
          <a:xfrm>
            <a:off x="841248" y="4041648"/>
            <a:ext cx="2569464" cy="362102"/>
          </a:xfrm>
          <a:prstGeom prst="rect">
            <a:avLst/>
          </a:prstGeom>
          <a:noFill/>
        </p:spPr>
        <p:txBody>
          <a:bodyPr wrap="none" lIns="0" rIns="0" tIns="0" bIns="0">
            <a:spAutoFit/>
          </a:bodyPr>
          <a:lstStyle/>
          <a:p>
            <a:pPr>
              <a:defRPr sz="1800" b="0">
                <a:solidFill>
                  <a:srgbClr val="DCE8EF"/>
                </a:solidFill>
                <a:latin typeface="Arial"/>
              </a:defRPr>
            </a:pPr>
            <a:r>
              <a:t>Predictive importance ≠</a:t>
            </a:r>
          </a:p>
        </p:txBody>
      </p:sp>
      <p:sp>
        <p:nvSpPr>
          <p:cNvPr id="14" name="TextBox 13"/>
          <p:cNvSpPr txBox="1"/>
          <p:nvPr/>
        </p:nvSpPr>
        <p:spPr>
          <a:xfrm>
            <a:off x="841248" y="4343400"/>
            <a:ext cx="1207008" cy="362102"/>
          </a:xfrm>
          <a:prstGeom prst="rect">
            <a:avLst/>
          </a:prstGeom>
          <a:noFill/>
        </p:spPr>
        <p:txBody>
          <a:bodyPr wrap="none" lIns="0" rIns="0" tIns="0" bIns="0">
            <a:spAutoFit/>
          </a:bodyPr>
          <a:lstStyle/>
          <a:p>
            <a:pPr>
              <a:defRPr sz="1800" b="0">
                <a:solidFill>
                  <a:srgbClr val="DCE8EF"/>
                </a:solidFill>
                <a:latin typeface="Arial"/>
              </a:defRPr>
            </a:pPr>
            <a:r>
              <a:t>causation.</a:t>
            </a:r>
          </a:p>
        </p:txBody>
      </p:sp>
      <p:sp>
        <p:nvSpPr>
          <p:cNvPr id="15" name="Rectangle 14"/>
          <p:cNvSpPr/>
          <p:nvPr/>
        </p:nvSpPr>
        <p:spPr>
          <a:xfrm>
            <a:off x="4709160" y="1691640"/>
            <a:ext cx="9308592" cy="548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portance.png"/>
          <p:cNvPicPr>
            <a:picLocks noChangeAspect="1"/>
          </p:cNvPicPr>
          <p:nvPr/>
        </p:nvPicPr>
        <p:blipFill>
          <a:blip r:embed="rId2"/>
          <a:stretch>
            <a:fillRect/>
          </a:stretch>
        </p:blipFill>
        <p:spPr>
          <a:xfrm>
            <a:off x="4846320" y="2660904"/>
            <a:ext cx="9034272" cy="35387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4630400" cy="10972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93192"/>
            <a:ext cx="2816209" cy="263347"/>
          </a:xfrm>
          <a:prstGeom prst="rect">
            <a:avLst/>
          </a:prstGeom>
          <a:noFill/>
        </p:spPr>
        <p:txBody>
          <a:bodyPr wrap="none" lIns="0" rIns="0" tIns="0" bIns="0">
            <a:spAutoFit/>
          </a:bodyPr>
          <a:lstStyle/>
          <a:p>
            <a:pPr>
              <a:defRPr sz="1296" b="1">
                <a:solidFill>
                  <a:srgbClr val="008C95"/>
                </a:solidFill>
                <a:latin typeface="Arial"/>
              </a:defRPr>
            </a:pPr>
            <a:r>
              <a:t>WEALTH · LONGEVITY · CARBON</a:t>
            </a:r>
          </a:p>
        </p:txBody>
      </p:sp>
      <p:sp>
        <p:nvSpPr>
          <p:cNvPr id="4" name="TextBox 3"/>
          <p:cNvSpPr txBox="1"/>
          <p:nvPr/>
        </p:nvSpPr>
        <p:spPr>
          <a:xfrm>
            <a:off x="603504" y="822960"/>
            <a:ext cx="4937760" cy="636422"/>
          </a:xfrm>
          <a:prstGeom prst="rect">
            <a:avLst/>
          </a:prstGeom>
          <a:noFill/>
        </p:spPr>
        <p:txBody>
          <a:bodyPr wrap="none" lIns="0" rIns="0" tIns="0" bIns="0">
            <a:spAutoFit/>
          </a:bodyPr>
          <a:lstStyle/>
          <a:p>
            <a:pPr>
              <a:defRPr sz="3095" b="1">
                <a:solidFill>
                  <a:srgbClr val="142B49"/>
                </a:solidFill>
                <a:latin typeface="Arial"/>
              </a:defRPr>
            </a:pPr>
            <a:r>
              <a:t>One prediction, explained</a:t>
            </a:r>
          </a:p>
        </p:txBody>
      </p:sp>
      <p:sp>
        <p:nvSpPr>
          <p:cNvPr id="5" name="Rectangle 4"/>
          <p:cNvSpPr/>
          <p:nvPr/>
        </p:nvSpPr>
        <p:spPr>
          <a:xfrm>
            <a:off x="603504" y="7616952"/>
            <a:ext cx="13423392" cy="18288"/>
          </a:xfrm>
          <a:prstGeom prst="rect">
            <a:avLst/>
          </a:prstGeom>
          <a:solidFill>
            <a:srgbClr val="D5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7772400"/>
            <a:ext cx="4590145" cy="230428"/>
          </a:xfrm>
          <a:prstGeom prst="rect">
            <a:avLst/>
          </a:prstGeom>
          <a:noFill/>
        </p:spPr>
        <p:txBody>
          <a:bodyPr wrap="none" lIns="0" rIns="0" tIns="0" bIns="0">
            <a:spAutoFit/>
          </a:bodyPr>
          <a:lstStyle/>
          <a:p>
            <a:pPr>
              <a:defRPr sz="1152" b="0">
                <a:solidFill>
                  <a:srgbClr val="56687B"/>
                </a:solidFill>
                <a:latin typeface="Arial"/>
              </a:defRPr>
            </a:pPr>
            <a:r>
              <a:t>Source: worlddata.csv | Historical data | AI-assisted analysis &amp; slides</a:t>
            </a:r>
          </a:p>
        </p:txBody>
      </p:sp>
      <p:sp>
        <p:nvSpPr>
          <p:cNvPr id="7" name="TextBox 6"/>
          <p:cNvSpPr txBox="1"/>
          <p:nvPr/>
        </p:nvSpPr>
        <p:spPr>
          <a:xfrm>
            <a:off x="13167360" y="7772400"/>
            <a:ext cx="612648" cy="241401"/>
          </a:xfrm>
          <a:prstGeom prst="rect">
            <a:avLst/>
          </a:prstGeom>
          <a:noFill/>
        </p:spPr>
        <p:txBody>
          <a:bodyPr wrap="none" lIns="0" rIns="0" tIns="0" bIns="0">
            <a:spAutoFit/>
          </a:bodyPr>
          <a:lstStyle/>
          <a:p>
            <a:pPr>
              <a:defRPr sz="1224" b="0">
                <a:solidFill>
                  <a:srgbClr val="56687B"/>
                </a:solidFill>
                <a:latin typeface="Arial"/>
              </a:defRPr>
            </a:pPr>
            <a:r>
              <a:t>07 / 09</a:t>
            </a:r>
          </a:p>
        </p:txBody>
      </p:sp>
      <p:sp>
        <p:nvSpPr>
          <p:cNvPr id="8" name="Rectangle 7"/>
          <p:cNvSpPr/>
          <p:nvPr/>
        </p:nvSpPr>
        <p:spPr>
          <a:xfrm>
            <a:off x="603504" y="1691640"/>
            <a:ext cx="3840480" cy="5486400"/>
          </a:xfrm>
          <a:prstGeom prst="rect">
            <a:avLst/>
          </a:prstGeom>
          <a:solidFill>
            <a:srgbClr val="14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039112"/>
            <a:ext cx="1892807" cy="570585"/>
          </a:xfrm>
          <a:prstGeom prst="rect">
            <a:avLst/>
          </a:prstGeom>
          <a:noFill/>
        </p:spPr>
        <p:txBody>
          <a:bodyPr wrap="none" lIns="0" rIns="0" tIns="0" bIns="0">
            <a:spAutoFit/>
          </a:bodyPr>
          <a:lstStyle/>
          <a:p>
            <a:pPr>
              <a:defRPr sz="2808" b="1">
                <a:solidFill>
                  <a:srgbClr val="FFFFFF"/>
                </a:solidFill>
                <a:latin typeface="Arial"/>
              </a:defRPr>
            </a:pPr>
            <a:r>
              <a:t>58.5 years</a:t>
            </a:r>
          </a:p>
        </p:txBody>
      </p:sp>
      <p:sp>
        <p:nvSpPr>
          <p:cNvPr id="10" name="TextBox 9"/>
          <p:cNvSpPr txBox="1"/>
          <p:nvPr/>
        </p:nvSpPr>
        <p:spPr>
          <a:xfrm>
            <a:off x="841248" y="2834640"/>
            <a:ext cx="3172825" cy="362102"/>
          </a:xfrm>
          <a:prstGeom prst="rect">
            <a:avLst/>
          </a:prstGeom>
          <a:noFill/>
        </p:spPr>
        <p:txBody>
          <a:bodyPr wrap="none" lIns="0" rIns="0" tIns="0" bIns="0">
            <a:spAutoFit/>
          </a:bodyPr>
          <a:lstStyle/>
          <a:p>
            <a:pPr>
              <a:defRPr sz="1800" b="0">
                <a:solidFill>
                  <a:srgbClr val="DCE8EF"/>
                </a:solidFill>
                <a:latin typeface="Arial"/>
              </a:defRPr>
            </a:pPr>
            <a:r>
              <a:t>Ridge prediction: Afghanistan</a:t>
            </a:r>
          </a:p>
        </p:txBody>
      </p:sp>
      <p:sp>
        <p:nvSpPr>
          <p:cNvPr id="11" name="TextBox 10"/>
          <p:cNvSpPr txBox="1"/>
          <p:nvPr/>
        </p:nvSpPr>
        <p:spPr>
          <a:xfrm>
            <a:off x="841248" y="3136392"/>
            <a:ext cx="2350008" cy="362102"/>
          </a:xfrm>
          <a:prstGeom prst="rect">
            <a:avLst/>
          </a:prstGeom>
          <a:noFill/>
        </p:spPr>
        <p:txBody>
          <a:bodyPr wrap="none" lIns="0" rIns="0" tIns="0" bIns="0">
            <a:spAutoFit/>
          </a:bodyPr>
          <a:lstStyle/>
          <a:p>
            <a:pPr>
              <a:defRPr sz="1800" b="0">
                <a:solidFill>
                  <a:srgbClr val="DCE8EF"/>
                </a:solidFill>
                <a:latin typeface="Arial"/>
              </a:defRPr>
            </a:pPr>
            <a:r>
              <a:t>Observed: 59.3 years</a:t>
            </a:r>
          </a:p>
        </p:txBody>
      </p:sp>
      <p:sp>
        <p:nvSpPr>
          <p:cNvPr id="12" name="TextBox 11"/>
          <p:cNvSpPr txBox="1"/>
          <p:nvPr/>
        </p:nvSpPr>
        <p:spPr>
          <a:xfrm>
            <a:off x="841248" y="3739896"/>
            <a:ext cx="2962656" cy="362102"/>
          </a:xfrm>
          <a:prstGeom prst="rect">
            <a:avLst/>
          </a:prstGeom>
          <a:noFill/>
        </p:spPr>
        <p:txBody>
          <a:bodyPr wrap="none" lIns="0" rIns="0" tIns="0" bIns="0">
            <a:spAutoFit/>
          </a:bodyPr>
          <a:lstStyle/>
          <a:p>
            <a:pPr>
              <a:defRPr sz="1800" b="0">
                <a:solidFill>
                  <a:srgbClr val="DCE8EF"/>
                </a:solidFill>
                <a:latin typeface="Arial"/>
              </a:defRPr>
            </a:pPr>
            <a:r>
              <a:t>Lower sanitation, water and</a:t>
            </a:r>
          </a:p>
        </p:txBody>
      </p:sp>
      <p:sp>
        <p:nvSpPr>
          <p:cNvPr id="13" name="TextBox 12"/>
          <p:cNvSpPr txBox="1"/>
          <p:nvPr/>
        </p:nvSpPr>
        <p:spPr>
          <a:xfrm>
            <a:off x="841248" y="4041648"/>
            <a:ext cx="896112" cy="362102"/>
          </a:xfrm>
          <a:prstGeom prst="rect">
            <a:avLst/>
          </a:prstGeom>
          <a:noFill/>
        </p:spPr>
        <p:txBody>
          <a:bodyPr wrap="none" lIns="0" rIns="0" tIns="0" bIns="0">
            <a:spAutoFit/>
          </a:bodyPr>
          <a:lstStyle/>
          <a:p>
            <a:pPr>
              <a:defRPr sz="1800" b="0">
                <a:solidFill>
                  <a:srgbClr val="DCE8EF"/>
                </a:solidFill>
                <a:latin typeface="Arial"/>
              </a:defRPr>
            </a:pPr>
            <a:r>
              <a:t>income</a:t>
            </a:r>
          </a:p>
        </p:txBody>
      </p:sp>
      <p:sp>
        <p:nvSpPr>
          <p:cNvPr id="14" name="TextBox 13"/>
          <p:cNvSpPr txBox="1"/>
          <p:nvPr/>
        </p:nvSpPr>
        <p:spPr>
          <a:xfrm>
            <a:off x="841248" y="4343400"/>
            <a:ext cx="2633472" cy="362102"/>
          </a:xfrm>
          <a:prstGeom prst="rect">
            <a:avLst/>
          </a:prstGeom>
          <a:noFill/>
        </p:spPr>
        <p:txBody>
          <a:bodyPr wrap="none" lIns="0" rIns="0" tIns="0" bIns="0">
            <a:spAutoFit/>
          </a:bodyPr>
          <a:lstStyle/>
          <a:p>
            <a:pPr>
              <a:defRPr sz="1800" b="0">
                <a:solidFill>
                  <a:srgbClr val="DCE8EF"/>
                </a:solidFill>
                <a:latin typeface="Arial"/>
              </a:defRPr>
            </a:pPr>
            <a:r>
              <a:t>pull the prediction below</a:t>
            </a:r>
          </a:p>
        </p:txBody>
      </p:sp>
      <p:sp>
        <p:nvSpPr>
          <p:cNvPr id="15" name="TextBox 14"/>
          <p:cNvSpPr txBox="1"/>
          <p:nvPr/>
        </p:nvSpPr>
        <p:spPr>
          <a:xfrm>
            <a:off x="841248" y="4645152"/>
            <a:ext cx="1078992" cy="362102"/>
          </a:xfrm>
          <a:prstGeom prst="rect">
            <a:avLst/>
          </a:prstGeom>
          <a:noFill/>
        </p:spPr>
        <p:txBody>
          <a:bodyPr wrap="none" lIns="0" rIns="0" tIns="0" bIns="0">
            <a:spAutoFit/>
          </a:bodyPr>
          <a:lstStyle/>
          <a:p>
            <a:pPr>
              <a:defRPr sz="1800" b="0">
                <a:solidFill>
                  <a:srgbClr val="DCE8EF"/>
                </a:solidFill>
                <a:latin typeface="Arial"/>
              </a:defRPr>
            </a:pPr>
            <a:r>
              <a:t>baseline.</a:t>
            </a:r>
          </a:p>
        </p:txBody>
      </p:sp>
      <p:sp>
        <p:nvSpPr>
          <p:cNvPr id="16" name="Rectangle 15"/>
          <p:cNvSpPr/>
          <p:nvPr/>
        </p:nvSpPr>
        <p:spPr>
          <a:xfrm>
            <a:off x="4709160" y="1691640"/>
            <a:ext cx="9308592" cy="548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ocal.png"/>
          <p:cNvPicPr>
            <a:picLocks noChangeAspect="1"/>
          </p:cNvPicPr>
          <p:nvPr/>
        </p:nvPicPr>
        <p:blipFill>
          <a:blip r:embed="rId2"/>
          <a:stretch>
            <a:fillRect/>
          </a:stretch>
        </p:blipFill>
        <p:spPr>
          <a:xfrm>
            <a:off x="4846320" y="2660904"/>
            <a:ext cx="9034272" cy="35387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4630400" cy="10972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93192"/>
            <a:ext cx="2816209" cy="263347"/>
          </a:xfrm>
          <a:prstGeom prst="rect">
            <a:avLst/>
          </a:prstGeom>
          <a:noFill/>
        </p:spPr>
        <p:txBody>
          <a:bodyPr wrap="none" lIns="0" rIns="0" tIns="0" bIns="0">
            <a:spAutoFit/>
          </a:bodyPr>
          <a:lstStyle/>
          <a:p>
            <a:pPr>
              <a:defRPr sz="1296" b="1">
                <a:solidFill>
                  <a:srgbClr val="008C95"/>
                </a:solidFill>
                <a:latin typeface="Arial"/>
              </a:defRPr>
            </a:pPr>
            <a:r>
              <a:t>WEALTH · LONGEVITY · CARBON</a:t>
            </a:r>
          </a:p>
        </p:txBody>
      </p:sp>
      <p:sp>
        <p:nvSpPr>
          <p:cNvPr id="4" name="TextBox 3"/>
          <p:cNvSpPr txBox="1"/>
          <p:nvPr/>
        </p:nvSpPr>
        <p:spPr>
          <a:xfrm>
            <a:off x="603504" y="822960"/>
            <a:ext cx="6684264" cy="636422"/>
          </a:xfrm>
          <a:prstGeom prst="rect">
            <a:avLst/>
          </a:prstGeom>
          <a:noFill/>
        </p:spPr>
        <p:txBody>
          <a:bodyPr wrap="none" lIns="0" rIns="0" tIns="0" bIns="0">
            <a:spAutoFit/>
          </a:bodyPr>
          <a:lstStyle/>
          <a:p>
            <a:pPr>
              <a:defRPr sz="3095" b="1">
                <a:solidFill>
                  <a:srgbClr val="142B49"/>
                </a:solidFill>
                <a:latin typeface="Arial"/>
              </a:defRPr>
            </a:pPr>
            <a:r>
              <a:t>Some economies broke the pattern</a:t>
            </a:r>
          </a:p>
        </p:txBody>
      </p:sp>
      <p:sp>
        <p:nvSpPr>
          <p:cNvPr id="5" name="Rectangle 4"/>
          <p:cNvSpPr/>
          <p:nvPr/>
        </p:nvSpPr>
        <p:spPr>
          <a:xfrm>
            <a:off x="603504" y="7616952"/>
            <a:ext cx="13423392" cy="18288"/>
          </a:xfrm>
          <a:prstGeom prst="rect">
            <a:avLst/>
          </a:prstGeom>
          <a:solidFill>
            <a:srgbClr val="D5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7772400"/>
            <a:ext cx="4590145" cy="230428"/>
          </a:xfrm>
          <a:prstGeom prst="rect">
            <a:avLst/>
          </a:prstGeom>
          <a:noFill/>
        </p:spPr>
        <p:txBody>
          <a:bodyPr wrap="none" lIns="0" rIns="0" tIns="0" bIns="0">
            <a:spAutoFit/>
          </a:bodyPr>
          <a:lstStyle/>
          <a:p>
            <a:pPr>
              <a:defRPr sz="1152" b="0">
                <a:solidFill>
                  <a:srgbClr val="56687B"/>
                </a:solidFill>
                <a:latin typeface="Arial"/>
              </a:defRPr>
            </a:pPr>
            <a:r>
              <a:t>Source: worlddata.csv | Historical data | AI-assisted analysis &amp; slides</a:t>
            </a:r>
          </a:p>
        </p:txBody>
      </p:sp>
      <p:sp>
        <p:nvSpPr>
          <p:cNvPr id="7" name="TextBox 6"/>
          <p:cNvSpPr txBox="1"/>
          <p:nvPr/>
        </p:nvSpPr>
        <p:spPr>
          <a:xfrm>
            <a:off x="13167360" y="7772400"/>
            <a:ext cx="612648" cy="241401"/>
          </a:xfrm>
          <a:prstGeom prst="rect">
            <a:avLst/>
          </a:prstGeom>
          <a:noFill/>
        </p:spPr>
        <p:txBody>
          <a:bodyPr wrap="none" lIns="0" rIns="0" tIns="0" bIns="0">
            <a:spAutoFit/>
          </a:bodyPr>
          <a:lstStyle/>
          <a:p>
            <a:pPr>
              <a:defRPr sz="1224" b="0">
                <a:solidFill>
                  <a:srgbClr val="56687B"/>
                </a:solidFill>
                <a:latin typeface="Arial"/>
              </a:defRPr>
            </a:pPr>
            <a:r>
              <a:t>08 / 09</a:t>
            </a:r>
          </a:p>
        </p:txBody>
      </p:sp>
      <p:sp>
        <p:nvSpPr>
          <p:cNvPr id="8" name="Rectangle 7"/>
          <p:cNvSpPr/>
          <p:nvPr/>
        </p:nvSpPr>
        <p:spPr>
          <a:xfrm>
            <a:off x="603504" y="1691640"/>
            <a:ext cx="3840480" cy="5486400"/>
          </a:xfrm>
          <a:prstGeom prst="rect">
            <a:avLst/>
          </a:prstGeom>
          <a:solidFill>
            <a:srgbClr val="14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039112"/>
            <a:ext cx="1691640" cy="570585"/>
          </a:xfrm>
          <a:prstGeom prst="rect">
            <a:avLst/>
          </a:prstGeom>
          <a:noFill/>
        </p:spPr>
        <p:txBody>
          <a:bodyPr wrap="none" lIns="0" rIns="0" tIns="0" bIns="0">
            <a:spAutoFit/>
          </a:bodyPr>
          <a:lstStyle/>
          <a:p>
            <a:pPr>
              <a:defRPr sz="2808" b="1">
                <a:solidFill>
                  <a:srgbClr val="FFFFFF"/>
                </a:solidFill>
                <a:latin typeface="Arial"/>
              </a:defRPr>
            </a:pPr>
            <a:r>
              <a:t>29 of 140</a:t>
            </a:r>
          </a:p>
        </p:txBody>
      </p:sp>
      <p:sp>
        <p:nvSpPr>
          <p:cNvPr id="10" name="TextBox 9"/>
          <p:cNvSpPr txBox="1"/>
          <p:nvPr/>
        </p:nvSpPr>
        <p:spPr>
          <a:xfrm>
            <a:off x="841248" y="2834640"/>
            <a:ext cx="2852928" cy="362102"/>
          </a:xfrm>
          <a:prstGeom prst="rect">
            <a:avLst/>
          </a:prstGeom>
          <a:noFill/>
        </p:spPr>
        <p:txBody>
          <a:bodyPr wrap="none" lIns="0" rIns="0" tIns="0" bIns="0">
            <a:spAutoFit/>
          </a:bodyPr>
          <a:lstStyle/>
          <a:p>
            <a:pPr>
              <a:defRPr sz="1800" b="0">
                <a:solidFill>
                  <a:srgbClr val="DCE8EF"/>
                </a:solidFill>
                <a:latin typeface="Arial"/>
              </a:defRPr>
            </a:pPr>
            <a:r>
              <a:t>Income and longevity rose</a:t>
            </a:r>
          </a:p>
        </p:txBody>
      </p:sp>
      <p:sp>
        <p:nvSpPr>
          <p:cNvPr id="11" name="TextBox 10"/>
          <p:cNvSpPr txBox="1"/>
          <p:nvPr/>
        </p:nvSpPr>
        <p:spPr>
          <a:xfrm>
            <a:off x="841248" y="3136392"/>
            <a:ext cx="2843784" cy="362102"/>
          </a:xfrm>
          <a:prstGeom prst="rect">
            <a:avLst/>
          </a:prstGeom>
          <a:noFill/>
        </p:spPr>
        <p:txBody>
          <a:bodyPr wrap="none" lIns="0" rIns="0" tIns="0" bIns="0">
            <a:spAutoFit/>
          </a:bodyPr>
          <a:lstStyle/>
          <a:p>
            <a:pPr>
              <a:defRPr sz="1800" b="0">
                <a:solidFill>
                  <a:srgbClr val="DCE8EF"/>
                </a:solidFill>
                <a:latin typeface="Arial"/>
              </a:defRPr>
            </a:pPr>
            <a:r>
              <a:t>while CO₂ per person fell.</a:t>
            </a:r>
          </a:p>
        </p:txBody>
      </p:sp>
      <p:sp>
        <p:nvSpPr>
          <p:cNvPr id="12" name="TextBox 11"/>
          <p:cNvSpPr txBox="1"/>
          <p:nvPr/>
        </p:nvSpPr>
        <p:spPr>
          <a:xfrm>
            <a:off x="841248" y="3739896"/>
            <a:ext cx="2806922" cy="362102"/>
          </a:xfrm>
          <a:prstGeom prst="rect">
            <a:avLst/>
          </a:prstGeom>
          <a:noFill/>
        </p:spPr>
        <p:txBody>
          <a:bodyPr wrap="none" lIns="0" rIns="0" tIns="0" bIns="0">
            <a:spAutoFit/>
          </a:bodyPr>
          <a:lstStyle/>
          <a:p>
            <a:pPr>
              <a:defRPr sz="1800" b="0">
                <a:solidFill>
                  <a:srgbClr val="DCE8EF"/>
                </a:solidFill>
                <a:latin typeface="Arial"/>
              </a:defRPr>
            </a:pPr>
            <a:r>
              <a:t>Joint sample · 1990–2011</a:t>
            </a:r>
          </a:p>
        </p:txBody>
      </p:sp>
      <p:sp>
        <p:nvSpPr>
          <p:cNvPr id="13" name="TextBox 12"/>
          <p:cNvSpPr txBox="1"/>
          <p:nvPr/>
        </p:nvSpPr>
        <p:spPr>
          <a:xfrm>
            <a:off x="841248" y="4041648"/>
            <a:ext cx="2706624" cy="362102"/>
          </a:xfrm>
          <a:prstGeom prst="rect">
            <a:avLst/>
          </a:prstGeom>
          <a:noFill/>
        </p:spPr>
        <p:txBody>
          <a:bodyPr wrap="none" lIns="0" rIns="0" tIns="0" bIns="0">
            <a:spAutoFit/>
          </a:bodyPr>
          <a:lstStyle/>
          <a:p>
            <a:pPr>
              <a:defRPr sz="1800" b="0">
                <a:solidFill>
                  <a:srgbClr val="DCE8EF"/>
                </a:solidFill>
                <a:latin typeface="Arial"/>
              </a:defRPr>
            </a:pPr>
            <a:r>
              <a:t>Endpoint changes do not</a:t>
            </a:r>
          </a:p>
        </p:txBody>
      </p:sp>
      <p:sp>
        <p:nvSpPr>
          <p:cNvPr id="14" name="TextBox 13"/>
          <p:cNvSpPr txBox="1"/>
          <p:nvPr/>
        </p:nvSpPr>
        <p:spPr>
          <a:xfrm>
            <a:off x="841248" y="4343400"/>
            <a:ext cx="1426178" cy="362102"/>
          </a:xfrm>
          <a:prstGeom prst="rect">
            <a:avLst/>
          </a:prstGeom>
          <a:noFill/>
        </p:spPr>
        <p:txBody>
          <a:bodyPr wrap="none" lIns="0" rIns="0" tIns="0" bIns="0">
            <a:spAutoFit/>
          </a:bodyPr>
          <a:lstStyle/>
          <a:p>
            <a:pPr>
              <a:defRPr sz="1800" b="0">
                <a:solidFill>
                  <a:srgbClr val="DCE8EF"/>
                </a:solidFill>
                <a:latin typeface="Arial"/>
              </a:defRPr>
            </a:pPr>
            <a:r>
              <a:t>explain why.</a:t>
            </a:r>
          </a:p>
        </p:txBody>
      </p:sp>
      <p:sp>
        <p:nvSpPr>
          <p:cNvPr id="15" name="Rectangle 14"/>
          <p:cNvSpPr/>
          <p:nvPr/>
        </p:nvSpPr>
        <p:spPr>
          <a:xfrm>
            <a:off x="4709160" y="1691640"/>
            <a:ext cx="9308592" cy="548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xceptions.png"/>
          <p:cNvPicPr>
            <a:picLocks noChangeAspect="1"/>
          </p:cNvPicPr>
          <p:nvPr/>
        </p:nvPicPr>
        <p:blipFill>
          <a:blip r:embed="rId2"/>
          <a:stretch>
            <a:fillRect/>
          </a:stretch>
        </p:blipFill>
        <p:spPr>
          <a:xfrm>
            <a:off x="4846320" y="2221992"/>
            <a:ext cx="9034272" cy="44165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4630400" cy="10972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93192"/>
            <a:ext cx="2816209" cy="263347"/>
          </a:xfrm>
          <a:prstGeom prst="rect">
            <a:avLst/>
          </a:prstGeom>
          <a:noFill/>
        </p:spPr>
        <p:txBody>
          <a:bodyPr wrap="none" lIns="0" rIns="0" tIns="0" bIns="0">
            <a:spAutoFit/>
          </a:bodyPr>
          <a:lstStyle/>
          <a:p>
            <a:pPr>
              <a:defRPr sz="1296" b="1">
                <a:solidFill>
                  <a:srgbClr val="008C95"/>
                </a:solidFill>
                <a:latin typeface="Arial"/>
              </a:defRPr>
            </a:pPr>
            <a:r>
              <a:t>WEALTH · LONGEVITY · CARBON</a:t>
            </a:r>
          </a:p>
        </p:txBody>
      </p:sp>
      <p:sp>
        <p:nvSpPr>
          <p:cNvPr id="4" name="TextBox 3"/>
          <p:cNvSpPr txBox="1"/>
          <p:nvPr/>
        </p:nvSpPr>
        <p:spPr>
          <a:xfrm>
            <a:off x="603504" y="822960"/>
            <a:ext cx="6519672" cy="636422"/>
          </a:xfrm>
          <a:prstGeom prst="rect">
            <a:avLst/>
          </a:prstGeom>
          <a:noFill/>
        </p:spPr>
        <p:txBody>
          <a:bodyPr wrap="none" lIns="0" rIns="0" tIns="0" bIns="0">
            <a:spAutoFit/>
          </a:bodyPr>
          <a:lstStyle/>
          <a:p>
            <a:pPr>
              <a:defRPr sz="3095" b="1">
                <a:solidFill>
                  <a:srgbClr val="142B49"/>
                </a:solidFill>
                <a:latin typeface="Arial"/>
              </a:defRPr>
            </a:pPr>
            <a:r>
              <a:t>Measure progress beyond income</a:t>
            </a:r>
          </a:p>
        </p:txBody>
      </p:sp>
      <p:sp>
        <p:nvSpPr>
          <p:cNvPr id="5" name="Rectangle 4"/>
          <p:cNvSpPr/>
          <p:nvPr/>
        </p:nvSpPr>
        <p:spPr>
          <a:xfrm>
            <a:off x="603504" y="7616952"/>
            <a:ext cx="13423392" cy="18288"/>
          </a:xfrm>
          <a:prstGeom prst="rect">
            <a:avLst/>
          </a:prstGeom>
          <a:solidFill>
            <a:srgbClr val="D5D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7772400"/>
            <a:ext cx="4590145" cy="230428"/>
          </a:xfrm>
          <a:prstGeom prst="rect">
            <a:avLst/>
          </a:prstGeom>
          <a:noFill/>
        </p:spPr>
        <p:txBody>
          <a:bodyPr wrap="none" lIns="0" rIns="0" tIns="0" bIns="0">
            <a:spAutoFit/>
          </a:bodyPr>
          <a:lstStyle/>
          <a:p>
            <a:pPr>
              <a:defRPr sz="1152" b="0">
                <a:solidFill>
                  <a:srgbClr val="56687B"/>
                </a:solidFill>
                <a:latin typeface="Arial"/>
              </a:defRPr>
            </a:pPr>
            <a:r>
              <a:t>Source: worlddata.csv | Historical data | AI-assisted analysis &amp; slides</a:t>
            </a:r>
          </a:p>
        </p:txBody>
      </p:sp>
      <p:sp>
        <p:nvSpPr>
          <p:cNvPr id="7" name="TextBox 6"/>
          <p:cNvSpPr txBox="1"/>
          <p:nvPr/>
        </p:nvSpPr>
        <p:spPr>
          <a:xfrm>
            <a:off x="13167360" y="7772400"/>
            <a:ext cx="612648" cy="241401"/>
          </a:xfrm>
          <a:prstGeom prst="rect">
            <a:avLst/>
          </a:prstGeom>
          <a:noFill/>
        </p:spPr>
        <p:txBody>
          <a:bodyPr wrap="none" lIns="0" rIns="0" tIns="0" bIns="0">
            <a:spAutoFit/>
          </a:bodyPr>
          <a:lstStyle/>
          <a:p>
            <a:pPr>
              <a:defRPr sz="1224" b="0">
                <a:solidFill>
                  <a:srgbClr val="56687B"/>
                </a:solidFill>
                <a:latin typeface="Arial"/>
              </a:defRPr>
            </a:pPr>
            <a:r>
              <a:t>09 / 09</a:t>
            </a:r>
          </a:p>
        </p:txBody>
      </p:sp>
      <p:sp>
        <p:nvSpPr>
          <p:cNvPr id="8" name="TextBox 7"/>
          <p:cNvSpPr txBox="1"/>
          <p:nvPr/>
        </p:nvSpPr>
        <p:spPr>
          <a:xfrm>
            <a:off x="658368" y="1993392"/>
            <a:ext cx="5165645" cy="702259"/>
          </a:xfrm>
          <a:prstGeom prst="rect">
            <a:avLst/>
          </a:prstGeom>
          <a:noFill/>
        </p:spPr>
        <p:txBody>
          <a:bodyPr wrap="none" lIns="0" rIns="0" tIns="0" bIns="0">
            <a:spAutoFit/>
          </a:bodyPr>
          <a:lstStyle/>
          <a:p>
            <a:pPr>
              <a:defRPr sz="3456" b="1">
                <a:solidFill>
                  <a:srgbClr val="142B49"/>
                </a:solidFill>
                <a:latin typeface="Arial"/>
              </a:defRPr>
            </a:pPr>
            <a:r>
              <a:t>Wealth tracks longevity.</a:t>
            </a:r>
          </a:p>
        </p:txBody>
      </p:sp>
      <p:sp>
        <p:nvSpPr>
          <p:cNvPr id="9" name="TextBox 8"/>
          <p:cNvSpPr txBox="1"/>
          <p:nvPr/>
        </p:nvSpPr>
        <p:spPr>
          <a:xfrm>
            <a:off x="658368" y="2578608"/>
            <a:ext cx="8988552" cy="702259"/>
          </a:xfrm>
          <a:prstGeom prst="rect">
            <a:avLst/>
          </a:prstGeom>
          <a:noFill/>
        </p:spPr>
        <p:txBody>
          <a:bodyPr wrap="none" lIns="0" rIns="0" tIns="0" bIns="0">
            <a:spAutoFit/>
          </a:bodyPr>
          <a:lstStyle/>
          <a:p>
            <a:pPr>
              <a:defRPr sz="3456" b="1">
                <a:solidFill>
                  <a:srgbClr val="142B49"/>
                </a:solidFill>
                <a:latin typeface="Arial"/>
              </a:defRPr>
            </a:pPr>
            <a:r>
              <a:t>Development has more than one outcome.</a:t>
            </a:r>
          </a:p>
        </p:txBody>
      </p:sp>
      <p:sp>
        <p:nvSpPr>
          <p:cNvPr id="10" name="TextBox 9"/>
          <p:cNvSpPr txBox="1"/>
          <p:nvPr/>
        </p:nvSpPr>
        <p:spPr>
          <a:xfrm>
            <a:off x="658368" y="3593592"/>
            <a:ext cx="5248513" cy="427939"/>
          </a:xfrm>
          <a:prstGeom prst="rect">
            <a:avLst/>
          </a:prstGeom>
          <a:noFill/>
        </p:spPr>
        <p:txBody>
          <a:bodyPr wrap="none" lIns="0" rIns="0" tIns="0" bIns="0">
            <a:spAutoFit/>
          </a:bodyPr>
          <a:lstStyle/>
          <a:p>
            <a:pPr>
              <a:defRPr sz="2088" b="0">
                <a:solidFill>
                  <a:srgbClr val="56687B"/>
                </a:solidFill>
                <a:latin typeface="Arial"/>
              </a:defRPr>
            </a:pPr>
            <a:r>
              <a:t>Income alone misses important differences.</a:t>
            </a:r>
          </a:p>
        </p:txBody>
      </p:sp>
      <p:sp>
        <p:nvSpPr>
          <p:cNvPr id="11" name="TextBox 10"/>
          <p:cNvSpPr txBox="1"/>
          <p:nvPr/>
        </p:nvSpPr>
        <p:spPr>
          <a:xfrm>
            <a:off x="658368" y="3950208"/>
            <a:ext cx="4123515" cy="427939"/>
          </a:xfrm>
          <a:prstGeom prst="rect">
            <a:avLst/>
          </a:prstGeom>
          <a:noFill/>
        </p:spPr>
        <p:txBody>
          <a:bodyPr wrap="none" lIns="0" rIns="0" tIns="0" bIns="0">
            <a:spAutoFit/>
          </a:bodyPr>
          <a:lstStyle/>
          <a:p>
            <a:pPr>
              <a:defRPr sz="2088" b="0">
                <a:solidFill>
                  <a:srgbClr val="56687B"/>
                </a:solidFill>
                <a:latin typeface="Arial"/>
              </a:defRPr>
            </a:pPr>
            <a:r>
              <a:t>Track health and carbon together.</a:t>
            </a:r>
          </a:p>
        </p:txBody>
      </p:sp>
      <p:sp>
        <p:nvSpPr>
          <p:cNvPr id="12" name="Rectangle 11"/>
          <p:cNvSpPr/>
          <p:nvPr/>
        </p:nvSpPr>
        <p:spPr>
          <a:xfrm>
            <a:off x="658368" y="5852160"/>
            <a:ext cx="4206240" cy="1280160"/>
          </a:xfrm>
          <a:prstGeom prst="rect">
            <a:avLst/>
          </a:prstGeom>
          <a:solidFill>
            <a:srgbClr val="E6EE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5998464"/>
            <a:ext cx="1408176" cy="449884"/>
          </a:xfrm>
          <a:prstGeom prst="rect">
            <a:avLst/>
          </a:prstGeom>
          <a:noFill/>
        </p:spPr>
        <p:txBody>
          <a:bodyPr wrap="none" lIns="0" rIns="0" tIns="0" bIns="0">
            <a:spAutoFit/>
          </a:bodyPr>
          <a:lstStyle/>
          <a:p>
            <a:pPr>
              <a:defRPr sz="2232" b="1">
                <a:solidFill>
                  <a:srgbClr val="008C95"/>
                </a:solidFill>
                <a:latin typeface="Arial"/>
              </a:defRPr>
            </a:pPr>
            <a:r>
              <a:t>Selection</a:t>
            </a:r>
          </a:p>
        </p:txBody>
      </p:sp>
      <p:sp>
        <p:nvSpPr>
          <p:cNvPr id="14" name="TextBox 13"/>
          <p:cNvSpPr txBox="1"/>
          <p:nvPr/>
        </p:nvSpPr>
        <p:spPr>
          <a:xfrm>
            <a:off x="859536" y="6473952"/>
            <a:ext cx="3072384" cy="318211"/>
          </a:xfrm>
          <a:prstGeom prst="rect">
            <a:avLst/>
          </a:prstGeom>
          <a:noFill/>
        </p:spPr>
        <p:txBody>
          <a:bodyPr wrap="none" lIns="0" rIns="0" tIns="0" bIns="0">
            <a:spAutoFit/>
          </a:bodyPr>
          <a:lstStyle/>
          <a:p>
            <a:pPr>
              <a:defRPr sz="1584" b="0">
                <a:solidFill>
                  <a:srgbClr val="56687B"/>
                </a:solidFill>
                <a:latin typeface="Arial"/>
              </a:defRPr>
            </a:pPr>
            <a:r>
              <a:t>Missingness changes the sample</a:t>
            </a:r>
          </a:p>
        </p:txBody>
      </p:sp>
      <p:sp>
        <p:nvSpPr>
          <p:cNvPr id="15" name="Rectangle 14"/>
          <p:cNvSpPr/>
          <p:nvPr/>
        </p:nvSpPr>
        <p:spPr>
          <a:xfrm>
            <a:off x="5138928" y="5852160"/>
            <a:ext cx="4206240" cy="1280160"/>
          </a:xfrm>
          <a:prstGeom prst="rect">
            <a:avLst/>
          </a:prstGeom>
          <a:solidFill>
            <a:srgbClr val="E6EE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0096" y="5998464"/>
            <a:ext cx="1691640" cy="449884"/>
          </a:xfrm>
          <a:prstGeom prst="rect">
            <a:avLst/>
          </a:prstGeom>
          <a:noFill/>
        </p:spPr>
        <p:txBody>
          <a:bodyPr wrap="none" lIns="0" rIns="0" tIns="0" bIns="0">
            <a:spAutoFit/>
          </a:bodyPr>
          <a:lstStyle/>
          <a:p>
            <a:pPr>
              <a:defRPr sz="2232" b="1">
                <a:solidFill>
                  <a:srgbClr val="008C95"/>
                </a:solidFill>
                <a:latin typeface="Arial"/>
              </a:defRPr>
            </a:pPr>
            <a:r>
              <a:t>Uncertainty</a:t>
            </a:r>
          </a:p>
        </p:txBody>
      </p:sp>
      <p:sp>
        <p:nvSpPr>
          <p:cNvPr id="17" name="TextBox 16"/>
          <p:cNvSpPr txBox="1"/>
          <p:nvPr/>
        </p:nvSpPr>
        <p:spPr>
          <a:xfrm>
            <a:off x="5340096" y="6473952"/>
            <a:ext cx="2221992" cy="318211"/>
          </a:xfrm>
          <a:prstGeom prst="rect">
            <a:avLst/>
          </a:prstGeom>
          <a:noFill/>
        </p:spPr>
        <p:txBody>
          <a:bodyPr wrap="none" lIns="0" rIns="0" tIns="0" bIns="0">
            <a:spAutoFit/>
          </a:bodyPr>
          <a:lstStyle/>
          <a:p>
            <a:pPr>
              <a:defRPr sz="1584" b="0">
                <a:solidFill>
                  <a:srgbClr val="56687B"/>
                </a:solidFill>
                <a:latin typeface="Arial"/>
              </a:defRPr>
            </a:pPr>
            <a:r>
              <a:t>Only 43 test economies</a:t>
            </a:r>
          </a:p>
        </p:txBody>
      </p:sp>
      <p:sp>
        <p:nvSpPr>
          <p:cNvPr id="18" name="Rectangle 17"/>
          <p:cNvSpPr/>
          <p:nvPr/>
        </p:nvSpPr>
        <p:spPr>
          <a:xfrm>
            <a:off x="9619488" y="5852160"/>
            <a:ext cx="4206240" cy="1280160"/>
          </a:xfrm>
          <a:prstGeom prst="rect">
            <a:avLst/>
          </a:prstGeom>
          <a:solidFill>
            <a:srgbClr val="E6EE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20656" y="5998464"/>
            <a:ext cx="1399032" cy="449884"/>
          </a:xfrm>
          <a:prstGeom prst="rect">
            <a:avLst/>
          </a:prstGeom>
          <a:noFill/>
        </p:spPr>
        <p:txBody>
          <a:bodyPr wrap="none" lIns="0" rIns="0" tIns="0" bIns="0">
            <a:spAutoFit/>
          </a:bodyPr>
          <a:lstStyle/>
          <a:p>
            <a:pPr>
              <a:defRPr sz="2232" b="1">
                <a:solidFill>
                  <a:srgbClr val="008C95"/>
                </a:solidFill>
                <a:latin typeface="Arial"/>
              </a:defRPr>
            </a:pPr>
            <a:r>
              <a:t>Causality</a:t>
            </a:r>
          </a:p>
        </p:txBody>
      </p:sp>
      <p:sp>
        <p:nvSpPr>
          <p:cNvPr id="20" name="TextBox 19"/>
          <p:cNvSpPr txBox="1"/>
          <p:nvPr/>
        </p:nvSpPr>
        <p:spPr>
          <a:xfrm>
            <a:off x="9820656" y="6473952"/>
            <a:ext cx="3063240" cy="318211"/>
          </a:xfrm>
          <a:prstGeom prst="rect">
            <a:avLst/>
          </a:prstGeom>
          <a:noFill/>
        </p:spPr>
        <p:txBody>
          <a:bodyPr wrap="none" lIns="0" rIns="0" tIns="0" bIns="0">
            <a:spAutoFit/>
          </a:bodyPr>
          <a:lstStyle/>
          <a:p>
            <a:pPr>
              <a:defRPr sz="1584" b="0">
                <a:solidFill>
                  <a:srgbClr val="56687B"/>
                </a:solidFill>
                <a:latin typeface="Arial"/>
              </a:defRPr>
            </a:pPr>
            <a:r>
              <a:t>Associations do not prove effects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Wealth, longevity &amp; carbon — concise version</dc:title>
  <dc:subject>Nine-slide summary of the original worlddata analysis</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